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37" autoAdjust="0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4613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" name="Text 1"/>
          <p:cNvSpPr/>
          <p:nvPr/>
        </p:nvSpPr>
        <p:spPr>
          <a:xfrm>
            <a:off x="0" y="914400"/>
            <a:ext cx="1218895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Harjoitustyö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0" y="2514600"/>
            <a:ext cx="12188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Python-ohjelmointi – kurssin lopputyö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149255" y="3783954"/>
            <a:ext cx="2560320" cy="1508760"/>
          </a:xfrm>
          <a:prstGeom prst="rect">
            <a:avLst/>
          </a:prstGeom>
          <a:solidFill>
            <a:srgbClr val="1C2E48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6" name="Text 4"/>
          <p:cNvSpPr/>
          <p:nvPr/>
        </p:nvSpPr>
        <p:spPr>
          <a:xfrm>
            <a:off x="2149255" y="383881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149255" y="433259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 Python-ohjelma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49255" y="468006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omasta aiheesta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11911" y="3783954"/>
            <a:ext cx="2560320" cy="1508760"/>
          </a:xfrm>
          <a:prstGeom prst="rect">
            <a:avLst/>
          </a:prstGeom>
          <a:solidFill>
            <a:srgbClr val="1C2E48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0" name="Text 8"/>
          <p:cNvSpPr/>
          <p:nvPr/>
        </p:nvSpPr>
        <p:spPr>
          <a:xfrm>
            <a:off x="5111911" y="383881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111911" y="433259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Yksilötyö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11911" y="468006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jokainen tekee oman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28018" y="3783954"/>
            <a:ext cx="2560320" cy="1508760"/>
          </a:xfrm>
          <a:prstGeom prst="rect">
            <a:avLst/>
          </a:prstGeom>
          <a:solidFill>
            <a:srgbClr val="1C2E48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8" name="Text 16"/>
          <p:cNvSpPr/>
          <p:nvPr/>
        </p:nvSpPr>
        <p:spPr>
          <a:xfrm>
            <a:off x="8028018" y="383881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🎤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028018" y="433259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Esitys luokalle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28018" y="468006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 27.5 iltapäivä &amp; to 28.5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6510528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Python-kurssi  •  Harjoitustyö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113659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Aikatauluesimerkki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11480" y="795528"/>
            <a:ext cx="11365992" cy="36576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" name="Text 3"/>
          <p:cNvSpPr/>
          <p:nvPr/>
        </p:nvSpPr>
        <p:spPr>
          <a:xfrm>
            <a:off x="411480" y="859536"/>
            <a:ext cx="11365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Kokonaisuus yhdellä silmäyksellä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07008"/>
            <a:ext cx="1188720" cy="603504"/>
          </a:xfrm>
          <a:prstGeom prst="rect">
            <a:avLst/>
          </a:prstGeom>
          <a:solidFill>
            <a:srgbClr val="0B7070"/>
          </a:solidFill>
          <a:ln w="12700">
            <a:solidFill>
              <a:srgbClr val="0B707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1188720" cy="3319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19.5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38935"/>
            <a:ext cx="1188720" cy="271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64208" y="1298448"/>
            <a:ext cx="868680" cy="420624"/>
          </a:xfrm>
          <a:prstGeom prst="rect">
            <a:avLst/>
          </a:prstGeom>
          <a:solidFill>
            <a:srgbClr val="0A2A2A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0" name="Text 8"/>
          <p:cNvSpPr/>
          <p:nvPr/>
        </p:nvSpPr>
        <p:spPr>
          <a:xfrm>
            <a:off x="1664208" y="1298448"/>
            <a:ext cx="868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standup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96896" y="1207008"/>
            <a:ext cx="2743200" cy="603504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 sz="1400"/>
          </a:p>
        </p:txBody>
      </p:sp>
      <p:sp>
        <p:nvSpPr>
          <p:cNvPr id="12" name="Text 10"/>
          <p:cNvSpPr/>
          <p:nvPr/>
        </p:nvSpPr>
        <p:spPr>
          <a:xfrm>
            <a:off x="2688336" y="1207008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Päivä 1 –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Aihevalinta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suunnitelma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aloitus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13248" y="1207008"/>
            <a:ext cx="6455664" cy="603504"/>
          </a:xfrm>
          <a:prstGeom prst="rect">
            <a:avLst/>
          </a:prstGeom>
          <a:solidFill>
            <a:srgbClr val="141E3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 sz="1400"/>
          </a:p>
        </p:txBody>
      </p:sp>
      <p:sp>
        <p:nvSpPr>
          <p:cNvPr id="14" name="Text 12"/>
          <p:cNvSpPr/>
          <p:nvPr/>
        </p:nvSpPr>
        <p:spPr>
          <a:xfrm>
            <a:off x="5559552" y="1280160"/>
            <a:ext cx="6163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Aihe valitaan, suunnitelma kirjataan, GitHub-repo luodaan, ensimmäiset koodirivit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" y="1847088"/>
            <a:ext cx="1188720" cy="603504"/>
          </a:xfrm>
          <a:prstGeom prst="rect">
            <a:avLst/>
          </a:prstGeom>
          <a:solidFill>
            <a:srgbClr val="0B7070"/>
          </a:solidFill>
          <a:ln w="12700">
            <a:solidFill>
              <a:srgbClr val="0B707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6" name="Text 14"/>
          <p:cNvSpPr/>
          <p:nvPr/>
        </p:nvSpPr>
        <p:spPr>
          <a:xfrm>
            <a:off x="411480" y="1847088"/>
            <a:ext cx="1188720" cy="3319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 20.5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2179015"/>
            <a:ext cx="1188720" cy="271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64208" y="1938528"/>
            <a:ext cx="868680" cy="420624"/>
          </a:xfrm>
          <a:prstGeom prst="rect">
            <a:avLst/>
          </a:prstGeom>
          <a:solidFill>
            <a:srgbClr val="0A2A2A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9" name="Text 17"/>
          <p:cNvSpPr/>
          <p:nvPr/>
        </p:nvSpPr>
        <p:spPr>
          <a:xfrm>
            <a:off x="1664208" y="1938528"/>
            <a:ext cx="868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standup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96896" y="1847088"/>
            <a:ext cx="2743200" cy="603504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 sz="1400"/>
          </a:p>
        </p:txBody>
      </p:sp>
      <p:sp>
        <p:nvSpPr>
          <p:cNvPr id="21" name="Text 19"/>
          <p:cNvSpPr/>
          <p:nvPr/>
        </p:nvSpPr>
        <p:spPr>
          <a:xfrm>
            <a:off x="2688336" y="1847088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Päivä 2 – Ydinlogiikka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13248" y="1847088"/>
            <a:ext cx="6455664" cy="603504"/>
          </a:xfrm>
          <a:prstGeom prst="rect">
            <a:avLst/>
          </a:prstGeom>
          <a:solidFill>
            <a:srgbClr val="141E3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 sz="1400"/>
          </a:p>
        </p:txBody>
      </p:sp>
      <p:sp>
        <p:nvSpPr>
          <p:cNvPr id="23" name="Text 21"/>
          <p:cNvSpPr/>
          <p:nvPr/>
        </p:nvSpPr>
        <p:spPr>
          <a:xfrm>
            <a:off x="5559552" y="1920240"/>
            <a:ext cx="6163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Ohjelman </a:t>
            </a:r>
            <a:r>
              <a:rPr lang="en-US" sz="1400" dirty="0" err="1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päätoiminnot</a:t>
            </a:r>
            <a:r>
              <a:rPr lang="en-US" sz="1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koodataan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11480" y="2487168"/>
            <a:ext cx="1188720" cy="603504"/>
          </a:xfrm>
          <a:prstGeom prst="rect">
            <a:avLst/>
          </a:prstGeom>
          <a:solidFill>
            <a:srgbClr val="0B7070"/>
          </a:solidFill>
          <a:ln w="12700">
            <a:solidFill>
              <a:srgbClr val="0B707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5" name="Text 23"/>
          <p:cNvSpPr/>
          <p:nvPr/>
        </p:nvSpPr>
        <p:spPr>
          <a:xfrm>
            <a:off x="411480" y="2487168"/>
            <a:ext cx="1188720" cy="3319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21.5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" y="2819095"/>
            <a:ext cx="1188720" cy="271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664208" y="2578608"/>
            <a:ext cx="868680" cy="420624"/>
          </a:xfrm>
          <a:prstGeom prst="rect">
            <a:avLst/>
          </a:prstGeom>
          <a:solidFill>
            <a:srgbClr val="0A2A2A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8" name="Text 26"/>
          <p:cNvSpPr/>
          <p:nvPr/>
        </p:nvSpPr>
        <p:spPr>
          <a:xfrm>
            <a:off x="1664208" y="2578608"/>
            <a:ext cx="868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standup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96896" y="2487168"/>
            <a:ext cx="2743200" cy="603504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 sz="1400"/>
          </a:p>
        </p:txBody>
      </p:sp>
      <p:sp>
        <p:nvSpPr>
          <p:cNvPr id="30" name="Text 28"/>
          <p:cNvSpPr/>
          <p:nvPr/>
        </p:nvSpPr>
        <p:spPr>
          <a:xfrm>
            <a:off x="2688336" y="2487168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Päivä 3 –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Koodaus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13248" y="2487168"/>
            <a:ext cx="6455664" cy="603504"/>
          </a:xfrm>
          <a:prstGeom prst="rect">
            <a:avLst/>
          </a:prstGeom>
          <a:solidFill>
            <a:srgbClr val="141E3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 sz="1400"/>
          </a:p>
        </p:txBody>
      </p:sp>
      <p:sp>
        <p:nvSpPr>
          <p:cNvPr id="32" name="Text 30"/>
          <p:cNvSpPr/>
          <p:nvPr/>
        </p:nvSpPr>
        <p:spPr>
          <a:xfrm>
            <a:off x="5559552" y="2539538"/>
            <a:ext cx="6163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Koodaus</a:t>
            </a:r>
            <a:r>
              <a:rPr lang="en-US" sz="1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jatkuu</a:t>
            </a:r>
            <a:r>
              <a:rPr lang="en-US" sz="1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400" dirty="0" err="1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Tiedostotallennus</a:t>
            </a:r>
            <a:r>
              <a:rPr lang="en-US" sz="1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virheenkäsittely, koodin siistiminen ja </a:t>
            </a:r>
            <a:r>
              <a:rPr lang="en-US" sz="1400" dirty="0" err="1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testaus</a:t>
            </a:r>
            <a:r>
              <a:rPr lang="en-US" sz="1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11480" y="3127248"/>
            <a:ext cx="1188720" cy="603504"/>
          </a:xfrm>
          <a:prstGeom prst="rect">
            <a:avLst/>
          </a:prstGeom>
          <a:solidFill>
            <a:srgbClr val="0B7070"/>
          </a:solidFill>
          <a:ln w="12700">
            <a:solidFill>
              <a:srgbClr val="0B707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4" name="Text 32"/>
          <p:cNvSpPr/>
          <p:nvPr/>
        </p:nvSpPr>
        <p:spPr>
          <a:xfrm>
            <a:off x="411480" y="3127248"/>
            <a:ext cx="1188720" cy="3319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22.5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11480" y="3459175"/>
            <a:ext cx="1188720" cy="271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5h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664208" y="3218688"/>
            <a:ext cx="868680" cy="420624"/>
          </a:xfrm>
          <a:prstGeom prst="rect">
            <a:avLst/>
          </a:prstGeom>
          <a:solidFill>
            <a:srgbClr val="0A2A2A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7" name="Text 35"/>
          <p:cNvSpPr/>
          <p:nvPr/>
        </p:nvSpPr>
        <p:spPr>
          <a:xfrm>
            <a:off x="1664208" y="3218688"/>
            <a:ext cx="868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standup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596896" y="3127248"/>
            <a:ext cx="2743200" cy="603504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 sz="1400"/>
          </a:p>
        </p:txBody>
      </p:sp>
      <p:sp>
        <p:nvSpPr>
          <p:cNvPr id="39" name="Text 37"/>
          <p:cNvSpPr/>
          <p:nvPr/>
        </p:nvSpPr>
        <p:spPr>
          <a:xfrm>
            <a:off x="2688336" y="3127248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Päivä 4 –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Viimeistely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dokumentointi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413248" y="3127248"/>
            <a:ext cx="6455664" cy="603504"/>
          </a:xfrm>
          <a:prstGeom prst="rect">
            <a:avLst/>
          </a:prstGeom>
          <a:solidFill>
            <a:srgbClr val="141E3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 sz="1400"/>
          </a:p>
        </p:txBody>
      </p:sp>
      <p:sp>
        <p:nvSpPr>
          <p:cNvPr id="41" name="Text 39"/>
          <p:cNvSpPr/>
          <p:nvPr/>
        </p:nvSpPr>
        <p:spPr>
          <a:xfrm>
            <a:off x="5559552" y="3200400"/>
            <a:ext cx="6163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Koodin</a:t>
            </a:r>
            <a:r>
              <a:rPr lang="en-US" sz="1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viimeistely</a:t>
            </a:r>
            <a:r>
              <a:rPr lang="en-US" sz="1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käyttöohje</a:t>
            </a:r>
            <a:r>
              <a:rPr lang="en-US" sz="1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toiminnan kuvaus, README, </a:t>
            </a:r>
            <a:r>
              <a:rPr lang="en-US" sz="1400" dirty="0" err="1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testisuunnitelma</a:t>
            </a:r>
            <a:r>
              <a:rPr lang="en-US" sz="1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/-</a:t>
            </a:r>
            <a:r>
              <a:rPr lang="en-US" sz="1400" dirty="0" err="1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pöytäkirja</a:t>
            </a:r>
            <a:r>
              <a:rPr lang="en-US" sz="1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11480" y="3767328"/>
            <a:ext cx="1188720" cy="603504"/>
          </a:xfrm>
          <a:prstGeom prst="rect">
            <a:avLst/>
          </a:prstGeom>
          <a:solidFill>
            <a:srgbClr val="0B7070"/>
          </a:solidFill>
          <a:ln w="12700">
            <a:solidFill>
              <a:srgbClr val="0B707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43" name="Text 41"/>
          <p:cNvSpPr/>
          <p:nvPr/>
        </p:nvSpPr>
        <p:spPr>
          <a:xfrm>
            <a:off x="411480" y="3767328"/>
            <a:ext cx="1188720" cy="3319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26.5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11480" y="4099255"/>
            <a:ext cx="1188720" cy="271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5h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664208" y="3858768"/>
            <a:ext cx="868680" cy="420624"/>
          </a:xfrm>
          <a:prstGeom prst="rect">
            <a:avLst/>
          </a:prstGeom>
          <a:solidFill>
            <a:srgbClr val="0A2A2A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46" name="Text 44"/>
          <p:cNvSpPr/>
          <p:nvPr/>
        </p:nvSpPr>
        <p:spPr>
          <a:xfrm>
            <a:off x="1664208" y="3858768"/>
            <a:ext cx="868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standup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596896" y="3767328"/>
            <a:ext cx="2743200" cy="603504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 sz="1400"/>
          </a:p>
        </p:txBody>
      </p:sp>
      <p:sp>
        <p:nvSpPr>
          <p:cNvPr id="48" name="Text 46"/>
          <p:cNvSpPr/>
          <p:nvPr/>
        </p:nvSpPr>
        <p:spPr>
          <a:xfrm>
            <a:off x="2688336" y="3767328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Päivä 5 – Valmistelu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5413248" y="3767328"/>
            <a:ext cx="6455664" cy="603504"/>
          </a:xfrm>
          <a:prstGeom prst="rect">
            <a:avLst/>
          </a:prstGeom>
          <a:solidFill>
            <a:srgbClr val="141E3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 sz="1400"/>
          </a:p>
        </p:txBody>
      </p:sp>
      <p:sp>
        <p:nvSpPr>
          <p:cNvPr id="50" name="Text 48"/>
          <p:cNvSpPr/>
          <p:nvPr/>
        </p:nvSpPr>
        <p:spPr>
          <a:xfrm>
            <a:off x="5559552" y="3840480"/>
            <a:ext cx="6163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Esitysslaidit, harjoitusdemo, viimeiset korjaukset, GitHub ajan tasalle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411480" y="4407408"/>
            <a:ext cx="1188720" cy="603504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2" name="Text 50"/>
          <p:cNvSpPr/>
          <p:nvPr/>
        </p:nvSpPr>
        <p:spPr>
          <a:xfrm>
            <a:off x="411480" y="4407408"/>
            <a:ext cx="1188720" cy="3319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 27.5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411480" y="4739335"/>
            <a:ext cx="1188720" cy="271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 + esittelyt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596896" y="4407408"/>
            <a:ext cx="2743200" cy="603504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 sz="1400"/>
          </a:p>
        </p:txBody>
      </p:sp>
      <p:sp>
        <p:nvSpPr>
          <p:cNvPr id="55" name="Text 53"/>
          <p:cNvSpPr/>
          <p:nvPr/>
        </p:nvSpPr>
        <p:spPr>
          <a:xfrm>
            <a:off x="2688336" y="4407408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Päivä 6 + Esittelyt (ke)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5413248" y="4407408"/>
            <a:ext cx="6455664" cy="603504"/>
          </a:xfrm>
          <a:prstGeom prst="rect">
            <a:avLst/>
          </a:prstGeom>
          <a:solidFill>
            <a:srgbClr val="141E3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 sz="1400"/>
          </a:p>
        </p:txBody>
      </p:sp>
      <p:sp>
        <p:nvSpPr>
          <p:cNvPr id="57" name="Text 55"/>
          <p:cNvSpPr/>
          <p:nvPr/>
        </p:nvSpPr>
        <p:spPr>
          <a:xfrm>
            <a:off x="5559552" y="4480560"/>
            <a:ext cx="6163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Aamupäivä: </a:t>
            </a:r>
            <a:r>
              <a:rPr lang="en-US" sz="1400" dirty="0" err="1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viimeiset</a:t>
            </a:r>
            <a:r>
              <a:rPr lang="en-US" sz="1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hionnat</a:t>
            </a:r>
            <a:r>
              <a:rPr lang="en-US" sz="1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400" dirty="0" err="1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</a:t>
            </a:r>
            <a:r>
              <a:rPr lang="en-US" sz="1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tarvetta</a:t>
            </a:r>
            <a:r>
              <a:rPr lang="en-US" sz="1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Iltapäivä: ensimmäiset esitykset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411480" y="5047488"/>
            <a:ext cx="1188720" cy="603504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9" name="Text 57"/>
          <p:cNvSpPr/>
          <p:nvPr/>
        </p:nvSpPr>
        <p:spPr>
          <a:xfrm>
            <a:off x="411480" y="5047488"/>
            <a:ext cx="1188720" cy="3319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28.5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411480" y="5379415"/>
            <a:ext cx="1188720" cy="271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Esittelyt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596896" y="5047488"/>
            <a:ext cx="2743200" cy="603504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 sz="1400"/>
          </a:p>
        </p:txBody>
      </p:sp>
      <p:sp>
        <p:nvSpPr>
          <p:cNvPr id="62" name="Text 60"/>
          <p:cNvSpPr/>
          <p:nvPr/>
        </p:nvSpPr>
        <p:spPr>
          <a:xfrm>
            <a:off x="2688336" y="5047488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Esittelyt (to)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5413248" y="5047488"/>
            <a:ext cx="6455664" cy="603504"/>
          </a:xfrm>
          <a:prstGeom prst="rect">
            <a:avLst/>
          </a:prstGeom>
          <a:solidFill>
            <a:srgbClr val="141E3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 sz="1400"/>
          </a:p>
        </p:txBody>
      </p:sp>
      <p:sp>
        <p:nvSpPr>
          <p:cNvPr id="64" name="Text 62"/>
          <p:cNvSpPr/>
          <p:nvPr/>
        </p:nvSpPr>
        <p:spPr>
          <a:xfrm>
            <a:off x="5559552" y="5120640"/>
            <a:ext cx="6163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Loput esitykset – kaikki esitetty päivän loppuun mennessä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274320" y="6510528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Python-kurssi  •  Harjoitustyö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113659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Vaihe 1 – Aihevalinta ja suunnitelma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11480" y="795528"/>
            <a:ext cx="11365992" cy="36576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" name="Text 3"/>
          <p:cNvSpPr/>
          <p:nvPr/>
        </p:nvSpPr>
        <p:spPr>
          <a:xfrm>
            <a:off x="411480" y="859536"/>
            <a:ext cx="11365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19.5  •  Tehtävä ennen koodauksen aloittamista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5349240" cy="402336"/>
          </a:xfrm>
          <a:prstGeom prst="rect">
            <a:avLst/>
          </a:prstGeom>
          <a:solidFill>
            <a:srgbClr val="0B7070"/>
          </a:solidFill>
          <a:ln w="12700">
            <a:solidFill>
              <a:srgbClr val="0B707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5349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Mitä suunnitelmaan kirjataan?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11480" y="1709928"/>
            <a:ext cx="54864" cy="65836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 sz="2000"/>
          </a:p>
        </p:txBody>
      </p:sp>
      <p:sp>
        <p:nvSpPr>
          <p:cNvPr id="9" name="Text 7"/>
          <p:cNvSpPr/>
          <p:nvPr/>
        </p:nvSpPr>
        <p:spPr>
          <a:xfrm>
            <a:off x="594360" y="1709928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Ohjelman nimi ja aihe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002536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Mikä on ohjelmasi ja mistä se kertoo? (1–2 lausetta)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2459736"/>
            <a:ext cx="54864" cy="65836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 sz="2000"/>
          </a:p>
        </p:txBody>
      </p:sp>
      <p:sp>
        <p:nvSpPr>
          <p:cNvPr id="12" name="Text 10"/>
          <p:cNvSpPr/>
          <p:nvPr/>
        </p:nvSpPr>
        <p:spPr>
          <a:xfrm>
            <a:off x="594360" y="2459736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Tarkoitus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2752344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Mitä ongelmaa se ratkaisee tai mitä se tekee käyttäjälle?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3209544"/>
            <a:ext cx="54864" cy="65836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 sz="2000"/>
          </a:p>
        </p:txBody>
      </p:sp>
      <p:sp>
        <p:nvSpPr>
          <p:cNvPr id="15" name="Text 13"/>
          <p:cNvSpPr/>
          <p:nvPr/>
        </p:nvSpPr>
        <p:spPr>
          <a:xfrm>
            <a:off x="594360" y="320954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Päätoiminnot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3502152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Listaa 3–5 asiaa jotka ohjelma osaa tehdä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1480" y="3959352"/>
            <a:ext cx="54864" cy="65836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 sz="2000"/>
          </a:p>
        </p:txBody>
      </p:sp>
      <p:sp>
        <p:nvSpPr>
          <p:cNvPr id="18" name="Text 16"/>
          <p:cNvSpPr/>
          <p:nvPr/>
        </p:nvSpPr>
        <p:spPr>
          <a:xfrm>
            <a:off x="594360" y="395935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Tiedostotallennus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4251960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Mitä tietoa tallennetaan tiedostoon?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1480" y="4709160"/>
            <a:ext cx="54864" cy="65836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 sz="2000"/>
          </a:p>
        </p:txBody>
      </p:sp>
      <p:sp>
        <p:nvSpPr>
          <p:cNvPr id="21" name="Text 19"/>
          <p:cNvSpPr/>
          <p:nvPr/>
        </p:nvSpPr>
        <p:spPr>
          <a:xfrm>
            <a:off x="594360" y="47091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" y="5001768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perustaso, 2 = edistynyt, 3 = graafinen (</a:t>
            </a:r>
            <a:r>
              <a:rPr lang="en-US" sz="1400" dirty="0" err="1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</a:t>
            </a:r>
            <a:r>
              <a:rPr lang="en-US" sz="1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tms</a:t>
            </a:r>
            <a:r>
              <a:rPr lang="en-US" sz="1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72200" y="1234440"/>
            <a:ext cx="5577840" cy="402336"/>
          </a:xfrm>
          <a:prstGeom prst="rect">
            <a:avLst/>
          </a:prstGeom>
          <a:solidFill>
            <a:srgbClr val="0B7070"/>
          </a:solidFill>
          <a:ln w="12700">
            <a:solidFill>
              <a:srgbClr val="0B707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4" name="Text 22"/>
          <p:cNvSpPr/>
          <p:nvPr/>
        </p:nvSpPr>
        <p:spPr>
          <a:xfrm>
            <a:off x="6172200" y="1234440"/>
            <a:ext cx="5577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Tason valinta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172200" y="1709928"/>
            <a:ext cx="5577840" cy="822960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6" name="Shape 24"/>
          <p:cNvSpPr/>
          <p:nvPr/>
        </p:nvSpPr>
        <p:spPr>
          <a:xfrm>
            <a:off x="6172200" y="1709928"/>
            <a:ext cx="1234440" cy="822960"/>
          </a:xfrm>
          <a:prstGeom prst="rect">
            <a:avLst/>
          </a:prstGeom>
          <a:solidFill>
            <a:srgbClr val="0B7070"/>
          </a:solidFill>
          <a:ln w="12700">
            <a:solidFill>
              <a:srgbClr val="0B707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7" name="Text 25"/>
          <p:cNvSpPr/>
          <p:nvPr/>
        </p:nvSpPr>
        <p:spPr>
          <a:xfrm>
            <a:off x="6172200" y="1709928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Taso 1 – Perustaso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98080" y="1709928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MOOC osat 1–5: muuttujat, ehdot, silmukat, listat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72200" y="2670048"/>
            <a:ext cx="5577840" cy="822960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0" name="Shape 28"/>
          <p:cNvSpPr/>
          <p:nvPr/>
        </p:nvSpPr>
        <p:spPr>
          <a:xfrm>
            <a:off x="6172200" y="2670048"/>
            <a:ext cx="1234440" cy="822960"/>
          </a:xfrm>
          <a:prstGeom prst="rect">
            <a:avLst/>
          </a:prstGeom>
          <a:solidFill>
            <a:srgbClr val="7A3A00"/>
          </a:solidFill>
          <a:ln w="12700">
            <a:solidFill>
              <a:srgbClr val="7A3A0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1" name="Text 29"/>
          <p:cNvSpPr/>
          <p:nvPr/>
        </p:nvSpPr>
        <p:spPr>
          <a:xfrm>
            <a:off x="6172200" y="2670048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Taso 2 – Edistynyt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498080" y="2670048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MOOC osat 6–7: + sanakirjat, tiedostot, monimutkaisempi logiikka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72200" y="3630168"/>
            <a:ext cx="5577840" cy="822960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4" name="Shape 32"/>
          <p:cNvSpPr/>
          <p:nvPr/>
        </p:nvSpPr>
        <p:spPr>
          <a:xfrm>
            <a:off x="6172200" y="3630168"/>
            <a:ext cx="1234440" cy="822960"/>
          </a:xfrm>
          <a:prstGeom prst="rect">
            <a:avLst/>
          </a:prstGeom>
          <a:solidFill>
            <a:srgbClr val="0A5A30"/>
          </a:solidFill>
          <a:ln w="12700">
            <a:solidFill>
              <a:srgbClr val="0A5A3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5" name="Text 33"/>
          <p:cNvSpPr/>
          <p:nvPr/>
        </p:nvSpPr>
        <p:spPr>
          <a:xfrm>
            <a:off x="6172200" y="3630168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Taso 3 – Graafinen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498080" y="3630168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 7 + </a:t>
            </a:r>
            <a:r>
              <a:rPr lang="en-US" sz="1200" dirty="0" err="1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</a:t>
            </a:r>
            <a:r>
              <a:rPr lang="en-US" sz="12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tms</a:t>
            </a:r>
            <a:r>
              <a:rPr lang="en-US" sz="12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+ graafinen käyttöliittymä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72200" y="4617720"/>
            <a:ext cx="5577840" cy="402336"/>
          </a:xfrm>
          <a:prstGeom prst="rect">
            <a:avLst/>
          </a:prstGeom>
          <a:solidFill>
            <a:srgbClr val="0B7070"/>
          </a:solidFill>
          <a:ln w="12700">
            <a:solidFill>
              <a:srgbClr val="0B7070"/>
            </a:solidFill>
            <a:prstDash val="solid"/>
          </a:ln>
        </p:spPr>
        <p:txBody>
          <a:bodyPr/>
          <a:lstStyle/>
          <a:p>
            <a:endParaRPr lang="fi-FI" sz="2000"/>
          </a:p>
        </p:txBody>
      </p:sp>
      <p:sp>
        <p:nvSpPr>
          <p:cNvPr id="38" name="Text 36"/>
          <p:cNvSpPr/>
          <p:nvPr/>
        </p:nvSpPr>
        <p:spPr>
          <a:xfrm>
            <a:off x="6172200" y="4617720"/>
            <a:ext cx="5577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omaa ideaa?</a:t>
            </a: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6172200" y="5047488"/>
            <a:ext cx="5577840" cy="914400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40" name="Text 38"/>
          <p:cNvSpPr/>
          <p:nvPr/>
        </p:nvSpPr>
        <p:spPr>
          <a:xfrm>
            <a:off x="6336792" y="5175504"/>
            <a:ext cx="524865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Aihe-ehdotuksia löytyy erilliseltä listalta. Valitse yksi tai käytä sitä inspiraationa oman idean keksimiseen. Kysy opettajalta jos et ole varma sopiiko aiheesi.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411480" y="5868786"/>
            <a:ext cx="11338560" cy="457200"/>
          </a:xfrm>
          <a:prstGeom prst="rect">
            <a:avLst/>
          </a:prstGeom>
          <a:solidFill>
            <a:srgbClr val="1A3A1A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 sz="2800"/>
          </a:p>
        </p:txBody>
      </p:sp>
      <p:sp>
        <p:nvSpPr>
          <p:cNvPr id="42" name="Text 40"/>
          <p:cNvSpPr/>
          <p:nvPr/>
        </p:nvSpPr>
        <p:spPr>
          <a:xfrm>
            <a:off x="553212" y="5932794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Suunnitelma</a:t>
            </a:r>
            <a:r>
              <a:rPr lang="en-US" sz="16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hyväksytetään opettajalla ennen koodauksen aloittamista. 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274320" y="6510528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Vaihe 1/7  •  Python-kurssi  •  Harjoitustyö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113659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standup – päivän aloitus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11480" y="795528"/>
            <a:ext cx="11365992" cy="36576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" name="Text 3"/>
          <p:cNvSpPr/>
          <p:nvPr/>
        </p:nvSpPr>
        <p:spPr>
          <a:xfrm>
            <a:off x="394854" y="884475"/>
            <a:ext cx="11365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minuuttia joka aamu  •  Jokainen vuorollaan ~1–2 min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74520" y="1394873"/>
            <a:ext cx="566928" cy="566928"/>
          </a:xfrm>
          <a:prstGeom prst="ellipse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7" name="Text 5"/>
          <p:cNvSpPr/>
          <p:nvPr/>
        </p:nvSpPr>
        <p:spPr>
          <a:xfrm>
            <a:off x="1874520" y="1394873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11480" y="2016665"/>
            <a:ext cx="3566160" cy="1143000"/>
          </a:xfrm>
          <a:prstGeom prst="rect">
            <a:avLst/>
          </a:prstGeom>
          <a:solidFill>
            <a:srgbClr val="1C2E48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9" name="Text 7"/>
          <p:cNvSpPr/>
          <p:nvPr/>
        </p:nvSpPr>
        <p:spPr>
          <a:xfrm>
            <a:off x="548640" y="2089817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Mitä tein viime kerralla?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2583593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Kerro lyhyesti mitä sait valmiiksi tai mitä kokeilit.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88152" y="1394873"/>
            <a:ext cx="566928" cy="566928"/>
          </a:xfrm>
          <a:prstGeom prst="ellipse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2" name="Text 10"/>
          <p:cNvSpPr/>
          <p:nvPr/>
        </p:nvSpPr>
        <p:spPr>
          <a:xfrm>
            <a:off x="5788152" y="1394873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325112" y="2016665"/>
            <a:ext cx="3566160" cy="1143000"/>
          </a:xfrm>
          <a:prstGeom prst="rect">
            <a:avLst/>
          </a:prstGeom>
          <a:solidFill>
            <a:srgbClr val="1C2E48"/>
          </a:solidFill>
          <a:ln w="12700">
            <a:solidFill>
              <a:srgbClr val="F0A03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4" name="Text 12"/>
          <p:cNvSpPr/>
          <p:nvPr/>
        </p:nvSpPr>
        <p:spPr>
          <a:xfrm>
            <a:off x="4462272" y="2089817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Mitä teen tänään?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62272" y="2583593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Kerro konkreettisesti mikä on päivän tavoite.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701784" y="1394873"/>
            <a:ext cx="566928" cy="566928"/>
          </a:xfrm>
          <a:prstGeom prst="ellipse">
            <a:avLst/>
          </a:prstGeom>
          <a:solidFill>
            <a:srgbClr val="40C080"/>
          </a:solidFill>
          <a:ln w="12700">
            <a:solidFill>
              <a:srgbClr val="40C08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7" name="Text 15"/>
          <p:cNvSpPr/>
          <p:nvPr/>
        </p:nvSpPr>
        <p:spPr>
          <a:xfrm>
            <a:off x="9701784" y="1394873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238744" y="2016665"/>
            <a:ext cx="3566160" cy="1143000"/>
          </a:xfrm>
          <a:prstGeom prst="rect">
            <a:avLst/>
          </a:prstGeom>
          <a:solidFill>
            <a:srgbClr val="1C2E48"/>
          </a:solidFill>
          <a:ln w="12700">
            <a:solidFill>
              <a:srgbClr val="40C08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9" name="Text 17"/>
          <p:cNvSpPr/>
          <p:nvPr/>
        </p:nvSpPr>
        <p:spPr>
          <a:xfrm>
            <a:off x="8375904" y="2089817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0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Onko jokin jumissa?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75904" y="2583593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Nosta ongelma esiin – ei tarvitse ratkaista yksin.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3369977"/>
            <a:ext cx="5303520" cy="402336"/>
          </a:xfrm>
          <a:prstGeom prst="rect">
            <a:avLst/>
          </a:prstGeom>
          <a:solidFill>
            <a:srgbClr val="0B7070"/>
          </a:solidFill>
          <a:ln w="12700">
            <a:solidFill>
              <a:srgbClr val="0B707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2" name="Text 20"/>
          <p:cNvSpPr/>
          <p:nvPr/>
        </p:nvSpPr>
        <p:spPr>
          <a:xfrm>
            <a:off x="411480" y="3369977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Pelisäännöt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11480" y="3799745"/>
            <a:ext cx="5303520" cy="2157984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4" name="Text 22"/>
          <p:cNvSpPr/>
          <p:nvPr/>
        </p:nvSpPr>
        <p:spPr>
          <a:xfrm>
            <a:off x="576072" y="3927761"/>
            <a:ext cx="4974336" cy="1901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B8D0E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 vuoro max 2 minuuttia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 valmis kun vuorosi tulee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Muut kuuntelevat – ei kommentoida kesken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Ongelmat</a:t>
            </a:r>
            <a:r>
              <a:rPr lang="en-US" sz="16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ratkaistaan standupin jälkeen erikseen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080760" y="3369977"/>
            <a:ext cx="5669280" cy="402336"/>
          </a:xfrm>
          <a:prstGeom prst="rect">
            <a:avLst/>
          </a:prstGeom>
          <a:solidFill>
            <a:srgbClr val="0B7070"/>
          </a:solidFill>
          <a:ln w="12700">
            <a:solidFill>
              <a:srgbClr val="0B707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6" name="Text 24"/>
          <p:cNvSpPr/>
          <p:nvPr/>
        </p:nvSpPr>
        <p:spPr>
          <a:xfrm>
            <a:off x="6080760" y="3369977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Miksi standup?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080760" y="3799745"/>
            <a:ext cx="5669280" cy="2157984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8" name="Text 26"/>
          <p:cNvSpPr/>
          <p:nvPr/>
        </p:nvSpPr>
        <p:spPr>
          <a:xfrm>
            <a:off x="6245352" y="3927761"/>
            <a:ext cx="5340096" cy="1901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 err="1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Ohjelmoijat</a:t>
            </a:r>
            <a:r>
              <a:rPr lang="en-US" sz="16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tekevät tätä joka aamu oikeissa yrityksissä (Scrum/Agile).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err="1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Pakottaa</a:t>
            </a:r>
            <a:r>
              <a:rPr lang="en-US" sz="16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miettimään missä mennään ja </a:t>
            </a:r>
            <a:r>
              <a:rPr lang="en-US" sz="1600" dirty="0" err="1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auttaa</a:t>
            </a:r>
            <a:r>
              <a:rPr lang="en-US" sz="16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tiimiä</a:t>
            </a:r>
            <a:r>
              <a:rPr lang="en-US" sz="16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dirty="0" err="1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opettajaa</a:t>
            </a:r>
            <a:r>
              <a:rPr lang="en-US" sz="16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näkemään missä tarvitaan apua.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Jumissa oleva ongelma nousee esiin ennen kuin se kaataa koko päivän.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74320" y="6510528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Päivittäinen käytäntö  •  Python-kurssi  •  Harjoitustyö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fi-FI" noProof="0" dirty="0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113659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i-FI" sz="27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Vaihe 2 – Ohjelmointi</a:t>
            </a:r>
            <a:endParaRPr lang="fi-FI" sz="2700" noProof="0" dirty="0"/>
          </a:p>
        </p:txBody>
      </p:sp>
      <p:sp>
        <p:nvSpPr>
          <p:cNvPr id="4" name="Shape 2"/>
          <p:cNvSpPr/>
          <p:nvPr/>
        </p:nvSpPr>
        <p:spPr>
          <a:xfrm>
            <a:off x="411480" y="795528"/>
            <a:ext cx="11365992" cy="36576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 noProof="0" dirty="0"/>
          </a:p>
        </p:txBody>
      </p:sp>
      <p:sp>
        <p:nvSpPr>
          <p:cNvPr id="5" name="Text 3"/>
          <p:cNvSpPr/>
          <p:nvPr/>
        </p:nvSpPr>
        <p:spPr>
          <a:xfrm>
            <a:off x="411480" y="859536"/>
            <a:ext cx="11365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i-FI" sz="1300" i="1" noProof="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19.5 – Ti 26.5  </a:t>
            </a:r>
            <a:endParaRPr lang="fi-FI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6130636" cy="402336"/>
          </a:xfrm>
          <a:prstGeom prst="rect">
            <a:avLst/>
          </a:prstGeom>
          <a:solidFill>
            <a:srgbClr val="0B7070"/>
          </a:solidFill>
          <a:ln w="12700">
            <a:solidFill>
              <a:srgbClr val="0B7070"/>
            </a:solidFill>
            <a:prstDash val="solid"/>
          </a:ln>
        </p:spPr>
        <p:txBody>
          <a:bodyPr/>
          <a:lstStyle/>
          <a:p>
            <a:endParaRPr lang="fi-FI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5349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i-FI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Mitä ohjelmalta vaaditaan?</a:t>
            </a:r>
            <a:endParaRPr lang="fi-FI" sz="1600" noProof="0" dirty="0"/>
          </a:p>
        </p:txBody>
      </p:sp>
      <p:sp>
        <p:nvSpPr>
          <p:cNvPr id="8" name="Shape 6"/>
          <p:cNvSpPr/>
          <p:nvPr/>
        </p:nvSpPr>
        <p:spPr>
          <a:xfrm>
            <a:off x="411480" y="1709928"/>
            <a:ext cx="6130636" cy="658368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 sz="2400" noProof="0" dirty="0"/>
          </a:p>
        </p:txBody>
      </p:sp>
      <p:sp>
        <p:nvSpPr>
          <p:cNvPr id="9" name="Shape 7"/>
          <p:cNvSpPr/>
          <p:nvPr/>
        </p:nvSpPr>
        <p:spPr>
          <a:xfrm>
            <a:off x="411480" y="1709928"/>
            <a:ext cx="54864" cy="65836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 sz="2400" noProof="0" dirty="0"/>
          </a:p>
        </p:txBody>
      </p:sp>
      <p:sp>
        <p:nvSpPr>
          <p:cNvPr id="10" name="Text 8"/>
          <p:cNvSpPr/>
          <p:nvPr/>
        </p:nvSpPr>
        <p:spPr>
          <a:xfrm>
            <a:off x="594360" y="1709928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i-FI" sz="1600" b="1" noProof="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Toimii</a:t>
            </a:r>
            <a:endParaRPr lang="fi-FI" sz="1600" noProof="0" dirty="0"/>
          </a:p>
        </p:txBody>
      </p:sp>
      <p:sp>
        <p:nvSpPr>
          <p:cNvPr id="11" name="Text 9"/>
          <p:cNvSpPr/>
          <p:nvPr/>
        </p:nvSpPr>
        <p:spPr>
          <a:xfrm>
            <a:off x="594360" y="2011680"/>
            <a:ext cx="582639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i-FI" sz="1600" noProof="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Ohjelma käynnistyy ja tekee mitä pitää – ei kaadu normaalikäytössä</a:t>
            </a:r>
            <a:endParaRPr lang="fi-FI" sz="1600" noProof="0" dirty="0"/>
          </a:p>
        </p:txBody>
      </p:sp>
      <p:sp>
        <p:nvSpPr>
          <p:cNvPr id="12" name="Shape 10"/>
          <p:cNvSpPr/>
          <p:nvPr/>
        </p:nvSpPr>
        <p:spPr>
          <a:xfrm>
            <a:off x="411480" y="2432304"/>
            <a:ext cx="6130636" cy="658368"/>
          </a:xfrm>
          <a:prstGeom prst="rect">
            <a:avLst/>
          </a:prstGeom>
          <a:solidFill>
            <a:srgbClr val="141E3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 sz="2400" noProof="0" dirty="0"/>
          </a:p>
        </p:txBody>
      </p:sp>
      <p:sp>
        <p:nvSpPr>
          <p:cNvPr id="13" name="Shape 11"/>
          <p:cNvSpPr/>
          <p:nvPr/>
        </p:nvSpPr>
        <p:spPr>
          <a:xfrm>
            <a:off x="411480" y="2432304"/>
            <a:ext cx="54864" cy="65836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594360" y="2432304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i-FI" sz="1600" b="1" noProof="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Funktiot</a:t>
            </a:r>
            <a:endParaRPr lang="fi-FI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594360" y="2734056"/>
            <a:ext cx="5029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i-FI" sz="1600" noProof="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Koodi on jaettu järkeviin funktioihin, ei kaikkea peräkkäin</a:t>
            </a:r>
            <a:endParaRPr lang="fi-FI" sz="1600" noProof="0" dirty="0"/>
          </a:p>
        </p:txBody>
      </p:sp>
      <p:sp>
        <p:nvSpPr>
          <p:cNvPr id="16" name="Shape 14"/>
          <p:cNvSpPr/>
          <p:nvPr/>
        </p:nvSpPr>
        <p:spPr>
          <a:xfrm>
            <a:off x="411480" y="3154680"/>
            <a:ext cx="6130636" cy="658368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 sz="2400" noProof="0" dirty="0"/>
          </a:p>
        </p:txBody>
      </p:sp>
      <p:sp>
        <p:nvSpPr>
          <p:cNvPr id="17" name="Shape 15"/>
          <p:cNvSpPr/>
          <p:nvPr/>
        </p:nvSpPr>
        <p:spPr>
          <a:xfrm>
            <a:off x="411480" y="3154680"/>
            <a:ext cx="54864" cy="65836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 sz="2400" noProof="0" dirty="0"/>
          </a:p>
        </p:txBody>
      </p:sp>
      <p:sp>
        <p:nvSpPr>
          <p:cNvPr id="18" name="Text 16"/>
          <p:cNvSpPr/>
          <p:nvPr/>
        </p:nvSpPr>
        <p:spPr>
          <a:xfrm>
            <a:off x="594360" y="315468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i-FI" sz="1600" b="1" noProof="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Käyttäjän syöte</a:t>
            </a:r>
            <a:endParaRPr lang="fi-FI" sz="1600" noProof="0" dirty="0"/>
          </a:p>
        </p:txBody>
      </p:sp>
      <p:sp>
        <p:nvSpPr>
          <p:cNvPr id="19" name="Text 17"/>
          <p:cNvSpPr/>
          <p:nvPr/>
        </p:nvSpPr>
        <p:spPr>
          <a:xfrm>
            <a:off x="594360" y="3456432"/>
            <a:ext cx="5029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i-FI" sz="1600" noProof="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Ohjelma lukee käyttäjältä tietoa (input tai GUI-kenttä)</a:t>
            </a:r>
            <a:endParaRPr lang="fi-FI" sz="1600" noProof="0" dirty="0"/>
          </a:p>
        </p:txBody>
      </p:sp>
      <p:sp>
        <p:nvSpPr>
          <p:cNvPr id="20" name="Shape 18"/>
          <p:cNvSpPr/>
          <p:nvPr/>
        </p:nvSpPr>
        <p:spPr>
          <a:xfrm>
            <a:off x="411480" y="3877056"/>
            <a:ext cx="6130636" cy="658368"/>
          </a:xfrm>
          <a:prstGeom prst="rect">
            <a:avLst/>
          </a:prstGeom>
          <a:solidFill>
            <a:srgbClr val="141E3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 sz="2400" noProof="0" dirty="0"/>
          </a:p>
        </p:txBody>
      </p:sp>
      <p:sp>
        <p:nvSpPr>
          <p:cNvPr id="21" name="Shape 19"/>
          <p:cNvSpPr/>
          <p:nvPr/>
        </p:nvSpPr>
        <p:spPr>
          <a:xfrm>
            <a:off x="411480" y="3877056"/>
            <a:ext cx="54864" cy="65836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 sz="2400" noProof="0" dirty="0"/>
          </a:p>
        </p:txBody>
      </p:sp>
      <p:sp>
        <p:nvSpPr>
          <p:cNvPr id="22" name="Text 20"/>
          <p:cNvSpPr/>
          <p:nvPr/>
        </p:nvSpPr>
        <p:spPr>
          <a:xfrm>
            <a:off x="594360" y="3877056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i-FI" sz="1600" b="1" noProof="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Tiedostotallennus</a:t>
            </a:r>
            <a:endParaRPr lang="fi-FI" sz="1600" noProof="0" dirty="0"/>
          </a:p>
        </p:txBody>
      </p:sp>
      <p:sp>
        <p:nvSpPr>
          <p:cNvPr id="23" name="Text 21"/>
          <p:cNvSpPr/>
          <p:nvPr/>
        </p:nvSpPr>
        <p:spPr>
          <a:xfrm>
            <a:off x="594360" y="4178808"/>
            <a:ext cx="5029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i-FI" sz="1600" noProof="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Ohjelma tallentaa tietoa tiedostoon ja lukee sen takaisin</a:t>
            </a:r>
            <a:endParaRPr lang="fi-FI" sz="1600" noProof="0" dirty="0"/>
          </a:p>
        </p:txBody>
      </p:sp>
      <p:sp>
        <p:nvSpPr>
          <p:cNvPr id="24" name="Shape 22"/>
          <p:cNvSpPr/>
          <p:nvPr/>
        </p:nvSpPr>
        <p:spPr>
          <a:xfrm>
            <a:off x="411480" y="4599432"/>
            <a:ext cx="6130636" cy="740664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 sz="2400" noProof="0" dirty="0"/>
          </a:p>
        </p:txBody>
      </p:sp>
      <p:sp>
        <p:nvSpPr>
          <p:cNvPr id="25" name="Shape 23"/>
          <p:cNvSpPr/>
          <p:nvPr/>
        </p:nvSpPr>
        <p:spPr>
          <a:xfrm>
            <a:off x="411480" y="4599432"/>
            <a:ext cx="54864" cy="65836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 sz="2400" noProof="0" dirty="0"/>
          </a:p>
        </p:txBody>
      </p:sp>
      <p:sp>
        <p:nvSpPr>
          <p:cNvPr id="26" name="Text 24"/>
          <p:cNvSpPr/>
          <p:nvPr/>
        </p:nvSpPr>
        <p:spPr>
          <a:xfrm>
            <a:off x="594360" y="4599432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i-FI" sz="1600" b="1" noProof="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Virheenkäsittely</a:t>
            </a:r>
            <a:endParaRPr lang="fi-FI" sz="1600" noProof="0" dirty="0"/>
          </a:p>
        </p:txBody>
      </p:sp>
      <p:sp>
        <p:nvSpPr>
          <p:cNvPr id="27" name="Text 25"/>
          <p:cNvSpPr/>
          <p:nvPr/>
        </p:nvSpPr>
        <p:spPr>
          <a:xfrm>
            <a:off x="594360" y="4901184"/>
            <a:ext cx="56327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i-FI" sz="1600" noProof="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Ohjelma ei kaadu väärällä syötteellä – kertoo mitä meni pieleen</a:t>
            </a:r>
            <a:endParaRPr lang="fi-FI" sz="1600" noProof="0" dirty="0"/>
          </a:p>
        </p:txBody>
      </p:sp>
      <p:sp>
        <p:nvSpPr>
          <p:cNvPr id="28" name="Shape 26"/>
          <p:cNvSpPr/>
          <p:nvPr/>
        </p:nvSpPr>
        <p:spPr>
          <a:xfrm>
            <a:off x="6720838" y="1234440"/>
            <a:ext cx="5029201" cy="402336"/>
          </a:xfrm>
          <a:prstGeom prst="rect">
            <a:avLst/>
          </a:prstGeom>
          <a:solidFill>
            <a:srgbClr val="0B7070"/>
          </a:solidFill>
          <a:ln w="12700">
            <a:solidFill>
              <a:srgbClr val="0B7070"/>
            </a:solidFill>
            <a:prstDash val="solid"/>
          </a:ln>
        </p:spPr>
        <p:txBody>
          <a:bodyPr/>
          <a:lstStyle/>
          <a:p>
            <a:endParaRPr lang="fi-FI" sz="2400" noProof="0" dirty="0"/>
          </a:p>
        </p:txBody>
      </p:sp>
      <p:sp>
        <p:nvSpPr>
          <p:cNvPr id="29" name="Text 27"/>
          <p:cNvSpPr/>
          <p:nvPr/>
        </p:nvSpPr>
        <p:spPr>
          <a:xfrm>
            <a:off x="6172200" y="1234440"/>
            <a:ext cx="5577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i-FI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Hyvän koodin muistilista</a:t>
            </a:r>
            <a:endParaRPr lang="fi-FI" sz="1600" noProof="0" dirty="0"/>
          </a:p>
        </p:txBody>
      </p:sp>
      <p:sp>
        <p:nvSpPr>
          <p:cNvPr id="30" name="Shape 28"/>
          <p:cNvSpPr/>
          <p:nvPr/>
        </p:nvSpPr>
        <p:spPr>
          <a:xfrm>
            <a:off x="6720840" y="1709928"/>
            <a:ext cx="5029200" cy="3630168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 sz="2400" noProof="0" dirty="0"/>
          </a:p>
        </p:txBody>
      </p:sp>
      <p:sp>
        <p:nvSpPr>
          <p:cNvPr id="31" name="Text 29"/>
          <p:cNvSpPr/>
          <p:nvPr/>
        </p:nvSpPr>
        <p:spPr>
          <a:xfrm>
            <a:off x="6903720" y="366217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sz="1600" noProof="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Muuttujien nimet kertovat mitä ne sisältävät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sz="1600" noProof="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Kommentteja vaikeiden kohtien selittämiseen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sz="1600" noProof="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Yksi funktio tekee yhden Asian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sz="1600" noProof="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copy-</a:t>
            </a:r>
            <a:r>
              <a:rPr lang="fi-FI" sz="1600" noProof="0" dirty="0" err="1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</a:t>
            </a:r>
            <a:r>
              <a:rPr lang="fi-FI" sz="1600" noProof="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tee silmukka tai funktio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sz="1600" noProof="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Testaa jokainen toiminto heti kun teet sen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sz="1600" noProof="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Tallenna ja </a:t>
            </a:r>
            <a:r>
              <a:rPr lang="fi-FI" sz="1600" noProof="0" dirty="0" err="1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commitoi</a:t>
            </a:r>
            <a:r>
              <a:rPr lang="fi-FI" sz="1600" noProof="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usein GitHubiin</a:t>
            </a:r>
            <a:endParaRPr lang="fi-FI" sz="16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i-FI" sz="16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i-FI" sz="16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i-FI" sz="16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i-FI" sz="1600" noProof="0" dirty="0"/>
          </a:p>
          <a:p>
            <a:pPr marL="0" indent="0">
              <a:buNone/>
            </a:pPr>
            <a:endParaRPr lang="fi-FI" sz="1600" noProof="0" dirty="0"/>
          </a:p>
        </p:txBody>
      </p:sp>
      <p:sp>
        <p:nvSpPr>
          <p:cNvPr id="35" name="Text 33"/>
          <p:cNvSpPr/>
          <p:nvPr/>
        </p:nvSpPr>
        <p:spPr>
          <a:xfrm>
            <a:off x="6355080" y="304495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fi-FI" sz="1600" noProof="0" dirty="0"/>
          </a:p>
        </p:txBody>
      </p:sp>
      <p:sp>
        <p:nvSpPr>
          <p:cNvPr id="37" name="Text 35"/>
          <p:cNvSpPr/>
          <p:nvPr/>
        </p:nvSpPr>
        <p:spPr>
          <a:xfrm>
            <a:off x="6355080" y="3712464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fi-FI" sz="1600" noProof="0" dirty="0"/>
          </a:p>
        </p:txBody>
      </p:sp>
      <p:sp>
        <p:nvSpPr>
          <p:cNvPr id="39" name="Text 37"/>
          <p:cNvSpPr/>
          <p:nvPr/>
        </p:nvSpPr>
        <p:spPr>
          <a:xfrm>
            <a:off x="6355080" y="437997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fi-FI" sz="1600" noProof="0" dirty="0"/>
          </a:p>
        </p:txBody>
      </p:sp>
      <p:sp>
        <p:nvSpPr>
          <p:cNvPr id="42" name="Shape 40"/>
          <p:cNvSpPr/>
          <p:nvPr/>
        </p:nvSpPr>
        <p:spPr>
          <a:xfrm>
            <a:off x="411480" y="5600700"/>
            <a:ext cx="11338560" cy="851637"/>
          </a:xfrm>
          <a:prstGeom prst="rect">
            <a:avLst/>
          </a:prstGeom>
          <a:solidFill>
            <a:srgbClr val="2A0808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fi-FI" noProof="0" dirty="0"/>
          </a:p>
        </p:txBody>
      </p:sp>
      <p:sp>
        <p:nvSpPr>
          <p:cNvPr id="43" name="Text 41"/>
          <p:cNvSpPr/>
          <p:nvPr/>
        </p:nvSpPr>
        <p:spPr>
          <a:xfrm>
            <a:off x="536171" y="5916168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i-FI" sz="1600" noProof="0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Tekoälyä ei ole tarkoitus käyttää. Jos et tiedä miten jokin tehdään, katso kurssin materiaaleja tai kysy opettajalta. </a:t>
            </a:r>
          </a:p>
          <a:p>
            <a:pPr marL="0" indent="0">
              <a:buNone/>
            </a:pPr>
            <a:r>
              <a:rPr lang="fi-FI" sz="1600" noProof="0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 kuitenkin käytät tekoälyä kiellosta huolimatta, varmistu siitä että ymmärrät mitä tekoäly sinulle ehdottaa. JA valmistaudu selittämään jokainen kohta koodissasi</a:t>
            </a:r>
            <a:endParaRPr lang="fi-FI" sz="1600" noProof="0" dirty="0"/>
          </a:p>
        </p:txBody>
      </p:sp>
      <p:sp>
        <p:nvSpPr>
          <p:cNvPr id="44" name="Text 42"/>
          <p:cNvSpPr/>
          <p:nvPr/>
        </p:nvSpPr>
        <p:spPr>
          <a:xfrm>
            <a:off x="274320" y="6510528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fi-FI" sz="1000" noProof="0" dirty="0">
                <a:solidFill>
                  <a:srgbClr val="60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Vaihe 2/7  •  Python-kurssi  •  Harjoitustyö</a:t>
            </a:r>
            <a:endParaRPr lang="fi-FI" sz="10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113659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Vaihe 3 – Testaus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11480" y="795528"/>
            <a:ext cx="11365992" cy="36576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" name="Text 3"/>
          <p:cNvSpPr/>
          <p:nvPr/>
        </p:nvSpPr>
        <p:spPr>
          <a:xfrm>
            <a:off x="411480" y="859536"/>
            <a:ext cx="11365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21.5 – Pe 22.5  •  Testisuunnitelma + testipöytäkirja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4809744" cy="402336"/>
          </a:xfrm>
          <a:prstGeom prst="rect">
            <a:avLst/>
          </a:prstGeom>
          <a:solidFill>
            <a:srgbClr val="0B7070"/>
          </a:solidFill>
          <a:ln w="12700">
            <a:solidFill>
              <a:srgbClr val="0B707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4809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Testisuunnitelma – kirjataan ennen testausta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664208"/>
            <a:ext cx="4809744" cy="1828800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9" name="Text 7"/>
          <p:cNvSpPr/>
          <p:nvPr/>
        </p:nvSpPr>
        <p:spPr>
          <a:xfrm>
            <a:off x="576072" y="1792224"/>
            <a:ext cx="5020056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Ennen kuin aloitat testauksen, kirjaa: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Mitä toimintoja testaat?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Millaisilla syötteillä testaat?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Mitä odotat tapahtuvan?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3657600"/>
            <a:ext cx="4809744" cy="402336"/>
          </a:xfrm>
          <a:prstGeom prst="rect">
            <a:avLst/>
          </a:prstGeom>
          <a:solidFill>
            <a:srgbClr val="0B7070"/>
          </a:solidFill>
          <a:ln w="12700">
            <a:solidFill>
              <a:srgbClr val="0B707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1" name="Text 9"/>
          <p:cNvSpPr/>
          <p:nvPr/>
        </p:nvSpPr>
        <p:spPr>
          <a:xfrm>
            <a:off x="411480" y="3657600"/>
            <a:ext cx="5349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Testipöytäkirja – täytetään testauksen aikana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4087368"/>
            <a:ext cx="4809744" cy="777240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3" name="Text 11"/>
          <p:cNvSpPr/>
          <p:nvPr/>
        </p:nvSpPr>
        <p:spPr>
          <a:xfrm>
            <a:off x="576072" y="4215384"/>
            <a:ext cx="5020056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Kirjaa jokainen testi: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Syöte  →  Odotettu tulos  →  Oikea tulos  →  OK / Ei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" y="4956048"/>
            <a:ext cx="4809744" cy="502920"/>
          </a:xfrm>
          <a:prstGeom prst="rect">
            <a:avLst/>
          </a:prstGeom>
          <a:solidFill>
            <a:srgbClr val="2A1E08"/>
          </a:solidFill>
          <a:ln w="12700">
            <a:solidFill>
              <a:srgbClr val="F0A03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5" name="Text 13"/>
          <p:cNvSpPr/>
          <p:nvPr/>
        </p:nvSpPr>
        <p:spPr>
          <a:xfrm>
            <a:off x="594360" y="5020056"/>
            <a:ext cx="4983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Merkitse punaisella ✗ löytyneet virheet ja kirjaa miten korjasit ne.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98869" y="1234440"/>
            <a:ext cx="6135624" cy="402336"/>
          </a:xfrm>
          <a:prstGeom prst="rect">
            <a:avLst/>
          </a:prstGeom>
          <a:solidFill>
            <a:srgbClr val="0B7070"/>
          </a:solidFill>
          <a:ln w="12700">
            <a:solidFill>
              <a:srgbClr val="0B707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7" name="Text 15"/>
          <p:cNvSpPr/>
          <p:nvPr/>
        </p:nvSpPr>
        <p:spPr>
          <a:xfrm>
            <a:off x="5498869" y="1234440"/>
            <a:ext cx="5577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Esimerkki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98869" y="1664208"/>
            <a:ext cx="548640" cy="365760"/>
          </a:xfrm>
          <a:prstGeom prst="rect">
            <a:avLst/>
          </a:prstGeom>
          <a:solidFill>
            <a:srgbClr val="0B7070"/>
          </a:solidFill>
          <a:ln w="12700">
            <a:solidFill>
              <a:srgbClr val="0B707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9" name="Text 17"/>
          <p:cNvSpPr/>
          <p:nvPr/>
        </p:nvSpPr>
        <p:spPr>
          <a:xfrm>
            <a:off x="5498869" y="16642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47509" y="1664208"/>
            <a:ext cx="1737360" cy="365760"/>
          </a:xfrm>
          <a:prstGeom prst="rect">
            <a:avLst/>
          </a:prstGeom>
          <a:solidFill>
            <a:srgbClr val="0B7070"/>
          </a:solidFill>
          <a:ln w="12700">
            <a:solidFill>
              <a:srgbClr val="0B707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1" name="Text 19"/>
          <p:cNvSpPr/>
          <p:nvPr/>
        </p:nvSpPr>
        <p:spPr>
          <a:xfrm>
            <a:off x="6047509" y="166420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Syöte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84869" y="1664208"/>
            <a:ext cx="1691640" cy="365760"/>
          </a:xfrm>
          <a:prstGeom prst="rect">
            <a:avLst/>
          </a:prstGeom>
          <a:solidFill>
            <a:srgbClr val="0B7070"/>
          </a:solidFill>
          <a:ln w="12700">
            <a:solidFill>
              <a:srgbClr val="0B707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3" name="Text 21"/>
          <p:cNvSpPr/>
          <p:nvPr/>
        </p:nvSpPr>
        <p:spPr>
          <a:xfrm>
            <a:off x="7784869" y="166420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Odotettu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76509" y="1664208"/>
            <a:ext cx="1554480" cy="365760"/>
          </a:xfrm>
          <a:prstGeom prst="rect">
            <a:avLst/>
          </a:prstGeom>
          <a:solidFill>
            <a:srgbClr val="0B7070"/>
          </a:solidFill>
          <a:ln w="12700">
            <a:solidFill>
              <a:srgbClr val="0B707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5" name="Text 23"/>
          <p:cNvSpPr/>
          <p:nvPr/>
        </p:nvSpPr>
        <p:spPr>
          <a:xfrm>
            <a:off x="9476509" y="166420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1030989" y="1664208"/>
            <a:ext cx="603504" cy="365760"/>
          </a:xfrm>
          <a:prstGeom prst="rect">
            <a:avLst/>
          </a:prstGeom>
          <a:solidFill>
            <a:srgbClr val="0B7070"/>
          </a:solidFill>
          <a:ln w="12700">
            <a:solidFill>
              <a:srgbClr val="0B707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7" name="Text 25"/>
          <p:cNvSpPr/>
          <p:nvPr/>
        </p:nvSpPr>
        <p:spPr>
          <a:xfrm>
            <a:off x="11030989" y="1664208"/>
            <a:ext cx="603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OK?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98869" y="2093976"/>
            <a:ext cx="548640" cy="429768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9" name="Text 27"/>
          <p:cNvSpPr/>
          <p:nvPr/>
        </p:nvSpPr>
        <p:spPr>
          <a:xfrm>
            <a:off x="5553733" y="2093976"/>
            <a:ext cx="43891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D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47509" y="2093976"/>
            <a:ext cx="1737360" cy="429768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1" name="Text 29"/>
          <p:cNvSpPr/>
          <p:nvPr/>
        </p:nvSpPr>
        <p:spPr>
          <a:xfrm>
            <a:off x="6102373" y="2093976"/>
            <a:ext cx="162763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D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"abc"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784869" y="2093976"/>
            <a:ext cx="1691640" cy="429768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3" name="Text 31"/>
          <p:cNvSpPr/>
          <p:nvPr/>
        </p:nvSpPr>
        <p:spPr>
          <a:xfrm>
            <a:off x="7839733" y="2093976"/>
            <a:ext cx="158191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D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Virheviesti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476509" y="2093976"/>
            <a:ext cx="1554480" cy="429768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5" name="Text 33"/>
          <p:cNvSpPr/>
          <p:nvPr/>
        </p:nvSpPr>
        <p:spPr>
          <a:xfrm>
            <a:off x="9531373" y="2093976"/>
            <a:ext cx="144475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D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Virheviesti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1030989" y="2093976"/>
            <a:ext cx="603504" cy="429768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7" name="Text 35"/>
          <p:cNvSpPr/>
          <p:nvPr/>
        </p:nvSpPr>
        <p:spPr>
          <a:xfrm>
            <a:off x="11085853" y="2093976"/>
            <a:ext cx="49377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0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98869" y="2578608"/>
            <a:ext cx="548640" cy="429768"/>
          </a:xfrm>
          <a:prstGeom prst="rect">
            <a:avLst/>
          </a:prstGeom>
          <a:solidFill>
            <a:srgbClr val="141E3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9" name="Text 37"/>
          <p:cNvSpPr/>
          <p:nvPr/>
        </p:nvSpPr>
        <p:spPr>
          <a:xfrm>
            <a:off x="5553733" y="2578608"/>
            <a:ext cx="43891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D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047509" y="2578608"/>
            <a:ext cx="1737360" cy="429768"/>
          </a:xfrm>
          <a:prstGeom prst="rect">
            <a:avLst/>
          </a:prstGeom>
          <a:solidFill>
            <a:srgbClr val="141E3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41" name="Text 39"/>
          <p:cNvSpPr/>
          <p:nvPr/>
        </p:nvSpPr>
        <p:spPr>
          <a:xfrm>
            <a:off x="6102373" y="2578608"/>
            <a:ext cx="162763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D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"0"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784869" y="2578608"/>
            <a:ext cx="1691640" cy="429768"/>
          </a:xfrm>
          <a:prstGeom prst="rect">
            <a:avLst/>
          </a:prstGeom>
          <a:solidFill>
            <a:srgbClr val="141E3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43" name="Text 41"/>
          <p:cNvSpPr/>
          <p:nvPr/>
        </p:nvSpPr>
        <p:spPr>
          <a:xfrm>
            <a:off x="7839733" y="2578608"/>
            <a:ext cx="158191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D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Virhe: jako nollalla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476509" y="2578608"/>
            <a:ext cx="1554480" cy="429768"/>
          </a:xfrm>
          <a:prstGeom prst="rect">
            <a:avLst/>
          </a:prstGeom>
          <a:solidFill>
            <a:srgbClr val="141E3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45" name="Text 43"/>
          <p:cNvSpPr/>
          <p:nvPr/>
        </p:nvSpPr>
        <p:spPr>
          <a:xfrm>
            <a:off x="9531373" y="2578608"/>
            <a:ext cx="144475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D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Kaatui!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1030989" y="2578608"/>
            <a:ext cx="603504" cy="429768"/>
          </a:xfrm>
          <a:prstGeom prst="rect">
            <a:avLst/>
          </a:prstGeom>
          <a:solidFill>
            <a:srgbClr val="141E3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47" name="Text 45"/>
          <p:cNvSpPr/>
          <p:nvPr/>
        </p:nvSpPr>
        <p:spPr>
          <a:xfrm>
            <a:off x="11085853" y="2578608"/>
            <a:ext cx="49377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498869" y="3063240"/>
            <a:ext cx="548640" cy="429768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49" name="Text 47"/>
          <p:cNvSpPr/>
          <p:nvPr/>
        </p:nvSpPr>
        <p:spPr>
          <a:xfrm>
            <a:off x="5553733" y="3063240"/>
            <a:ext cx="43891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D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047509" y="3063240"/>
            <a:ext cx="1737360" cy="429768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1" name="Text 49"/>
          <p:cNvSpPr/>
          <p:nvPr/>
        </p:nvSpPr>
        <p:spPr>
          <a:xfrm>
            <a:off x="6102373" y="3063240"/>
            <a:ext cx="162763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D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(tyhjä)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784869" y="3063240"/>
            <a:ext cx="1691640" cy="429768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3" name="Text 51"/>
          <p:cNvSpPr/>
          <p:nvPr/>
        </p:nvSpPr>
        <p:spPr>
          <a:xfrm>
            <a:off x="7839733" y="3063240"/>
            <a:ext cx="158191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D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Pyydetään uudestaan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9476509" y="3063240"/>
            <a:ext cx="1554480" cy="429768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5" name="Text 53"/>
          <p:cNvSpPr/>
          <p:nvPr/>
        </p:nvSpPr>
        <p:spPr>
          <a:xfrm>
            <a:off x="9531373" y="3063240"/>
            <a:ext cx="144475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D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Pyydetään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1030989" y="3063240"/>
            <a:ext cx="603504" cy="429768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7" name="Text 55"/>
          <p:cNvSpPr/>
          <p:nvPr/>
        </p:nvSpPr>
        <p:spPr>
          <a:xfrm>
            <a:off x="11085853" y="3063240"/>
            <a:ext cx="49377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0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498869" y="3547872"/>
            <a:ext cx="548640" cy="429768"/>
          </a:xfrm>
          <a:prstGeom prst="rect">
            <a:avLst/>
          </a:prstGeom>
          <a:solidFill>
            <a:srgbClr val="141E3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9" name="Text 57"/>
          <p:cNvSpPr/>
          <p:nvPr/>
        </p:nvSpPr>
        <p:spPr>
          <a:xfrm>
            <a:off x="5553733" y="3547872"/>
            <a:ext cx="43891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D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047509" y="3547872"/>
            <a:ext cx="1737360" cy="429768"/>
          </a:xfrm>
          <a:prstGeom prst="rect">
            <a:avLst/>
          </a:prstGeom>
          <a:solidFill>
            <a:srgbClr val="141E3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61" name="Text 59"/>
          <p:cNvSpPr/>
          <p:nvPr/>
        </p:nvSpPr>
        <p:spPr>
          <a:xfrm>
            <a:off x="6102373" y="3547872"/>
            <a:ext cx="162763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D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"-5"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784869" y="3547872"/>
            <a:ext cx="1691640" cy="429768"/>
          </a:xfrm>
          <a:prstGeom prst="rect">
            <a:avLst/>
          </a:prstGeom>
          <a:solidFill>
            <a:srgbClr val="141E3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63" name="Text 61"/>
          <p:cNvSpPr/>
          <p:nvPr/>
        </p:nvSpPr>
        <p:spPr>
          <a:xfrm>
            <a:off x="7839733" y="3547872"/>
            <a:ext cx="158191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D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Virheviesti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9476509" y="3547872"/>
            <a:ext cx="1554480" cy="429768"/>
          </a:xfrm>
          <a:prstGeom prst="rect">
            <a:avLst/>
          </a:prstGeom>
          <a:solidFill>
            <a:srgbClr val="141E3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65" name="Text 63"/>
          <p:cNvSpPr/>
          <p:nvPr/>
        </p:nvSpPr>
        <p:spPr>
          <a:xfrm>
            <a:off x="9531373" y="3547872"/>
            <a:ext cx="144475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D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Virheviesti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11030989" y="3547872"/>
            <a:ext cx="603504" cy="429768"/>
          </a:xfrm>
          <a:prstGeom prst="rect">
            <a:avLst/>
          </a:prstGeom>
          <a:solidFill>
            <a:srgbClr val="141E3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67" name="Text 65"/>
          <p:cNvSpPr/>
          <p:nvPr/>
        </p:nvSpPr>
        <p:spPr>
          <a:xfrm>
            <a:off x="11085853" y="3547872"/>
            <a:ext cx="49377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0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498869" y="4032504"/>
            <a:ext cx="548640" cy="429768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69" name="Text 67"/>
          <p:cNvSpPr/>
          <p:nvPr/>
        </p:nvSpPr>
        <p:spPr>
          <a:xfrm>
            <a:off x="5553733" y="4032504"/>
            <a:ext cx="43891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D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047509" y="4032504"/>
            <a:ext cx="1737360" cy="429768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71" name="Text 69"/>
          <p:cNvSpPr/>
          <p:nvPr/>
        </p:nvSpPr>
        <p:spPr>
          <a:xfrm>
            <a:off x="6102373" y="4032504"/>
            <a:ext cx="162763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D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"99999"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784869" y="4032504"/>
            <a:ext cx="1691640" cy="429768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73" name="Text 71"/>
          <p:cNvSpPr/>
          <p:nvPr/>
        </p:nvSpPr>
        <p:spPr>
          <a:xfrm>
            <a:off x="7839733" y="4032504"/>
            <a:ext cx="158191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D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Tulos näytetään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9476509" y="4032504"/>
            <a:ext cx="1554480" cy="429768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75" name="Text 73"/>
          <p:cNvSpPr/>
          <p:nvPr/>
        </p:nvSpPr>
        <p:spPr>
          <a:xfrm>
            <a:off x="9531373" y="4032504"/>
            <a:ext cx="144475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D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Tulos näytetään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11030989" y="4032504"/>
            <a:ext cx="603504" cy="429768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77" name="Text 75"/>
          <p:cNvSpPr/>
          <p:nvPr/>
        </p:nvSpPr>
        <p:spPr>
          <a:xfrm>
            <a:off x="11085853" y="4032504"/>
            <a:ext cx="49377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0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5498869" y="4681728"/>
            <a:ext cx="6135624" cy="402336"/>
          </a:xfrm>
          <a:prstGeom prst="rect">
            <a:avLst/>
          </a:prstGeom>
          <a:solidFill>
            <a:srgbClr val="0B7070"/>
          </a:solidFill>
          <a:ln w="12700">
            <a:solidFill>
              <a:srgbClr val="0B707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79" name="Text 77"/>
          <p:cNvSpPr/>
          <p:nvPr/>
        </p:nvSpPr>
        <p:spPr>
          <a:xfrm>
            <a:off x="5498869" y="4681728"/>
            <a:ext cx="5577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Minimissään testaa nämä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5498870" y="5111496"/>
            <a:ext cx="6135624" cy="1247740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81" name="Text 79"/>
          <p:cNvSpPr/>
          <p:nvPr/>
        </p:nvSpPr>
        <p:spPr>
          <a:xfrm>
            <a:off x="6336792" y="5239512"/>
            <a:ext cx="5248656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Normaali käyttö – toimiiko perusasiat?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Väärä syöte – kaatuuko ohjelma?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Tyhjä syöte, nolla, negatiivinen luku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Tiedostot – tallentuuko ja latautuuko?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274320" y="6510528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Vaihe 3/7  •  Python-kurssi  •  Harjoitustyö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113659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Vaihe 4 – Dokumentointi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11480" y="795528"/>
            <a:ext cx="11365992" cy="36576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" name="Text 3"/>
          <p:cNvSpPr/>
          <p:nvPr/>
        </p:nvSpPr>
        <p:spPr>
          <a:xfrm>
            <a:off x="411480" y="859536"/>
            <a:ext cx="11365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22.5 – Ti 26.5  •  Kolme lyhyttä dokumenttia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📖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3566160" cy="402336"/>
          </a:xfrm>
          <a:prstGeom prst="rect">
            <a:avLst/>
          </a:prstGeom>
          <a:solidFill>
            <a:srgbClr val="0B7070"/>
          </a:solidFill>
          <a:ln w="12700">
            <a:solidFill>
              <a:srgbClr val="0B707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Käyttöohje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002536"/>
            <a:ext cx="3566160" cy="594360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0" name="Text 8"/>
          <p:cNvSpPr/>
          <p:nvPr/>
        </p:nvSpPr>
        <p:spPr>
          <a:xfrm>
            <a:off x="576072" y="2130552"/>
            <a:ext cx="3236976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Ohjeet henkilölle joka ei tiedä miten ohjelma toimii.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660904"/>
            <a:ext cx="3566160" cy="2880360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2" name="Text 10"/>
          <p:cNvSpPr/>
          <p:nvPr/>
        </p:nvSpPr>
        <p:spPr>
          <a:xfrm>
            <a:off x="576072" y="2788920"/>
            <a:ext cx="3236976" cy="2624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Miten ohjelma käynnistetään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Mitä vaihtoehtoja/komentoja 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Esimerkkejä käytöstä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Mitä virheviestit tarkoittavat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78808" y="10515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4178808" y="1572768"/>
            <a:ext cx="3566160" cy="402336"/>
          </a:xfrm>
          <a:prstGeom prst="rect">
            <a:avLst/>
          </a:prstGeom>
          <a:solidFill>
            <a:srgbClr val="0B7070"/>
          </a:solidFill>
          <a:ln w="12700">
            <a:solidFill>
              <a:srgbClr val="0B707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5" name="Text 13"/>
          <p:cNvSpPr/>
          <p:nvPr/>
        </p:nvSpPr>
        <p:spPr>
          <a:xfrm>
            <a:off x="4178808" y="157276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Toiminnan kuvaus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78808" y="2002536"/>
            <a:ext cx="3566160" cy="594360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7" name="Text 15"/>
          <p:cNvSpPr/>
          <p:nvPr/>
        </p:nvSpPr>
        <p:spPr>
          <a:xfrm>
            <a:off x="4343400" y="2130552"/>
            <a:ext cx="3236976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Lyhyt tekninen kuvaus ohjelman rakenteesta.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78808" y="2660904"/>
            <a:ext cx="3566160" cy="2880360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9" name="Text 17"/>
          <p:cNvSpPr/>
          <p:nvPr/>
        </p:nvSpPr>
        <p:spPr>
          <a:xfrm>
            <a:off x="4343400" y="2788920"/>
            <a:ext cx="3236976" cy="2624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Mitä ohjelma tekee (2–3 lausetta)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Tärkeimmät funktiot lyhyesti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Miten tiedostotallennus toimii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Tunnetut puutteet tai rajoitukset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46136" y="1051560"/>
            <a:ext cx="3831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7946136" y="1572768"/>
            <a:ext cx="3831336" cy="402336"/>
          </a:xfrm>
          <a:prstGeom prst="rect">
            <a:avLst/>
          </a:prstGeom>
          <a:solidFill>
            <a:srgbClr val="0B7070"/>
          </a:solidFill>
          <a:ln w="12700">
            <a:solidFill>
              <a:srgbClr val="0B707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2" name="Text 20"/>
          <p:cNvSpPr/>
          <p:nvPr/>
        </p:nvSpPr>
        <p:spPr>
          <a:xfrm>
            <a:off x="7946136" y="1572768"/>
            <a:ext cx="3831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(GitHub)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946136" y="2002536"/>
            <a:ext cx="3831336" cy="594360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4" name="Text 22"/>
          <p:cNvSpPr/>
          <p:nvPr/>
        </p:nvSpPr>
        <p:spPr>
          <a:xfrm>
            <a:off x="8110728" y="2130552"/>
            <a:ext cx="3502152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Lyhyt tiedosto repositorion etusivulle.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46136" y="2660904"/>
            <a:ext cx="3831336" cy="2880360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6" name="Text 24"/>
          <p:cNvSpPr/>
          <p:nvPr/>
        </p:nvSpPr>
        <p:spPr>
          <a:xfrm>
            <a:off x="8110728" y="2788920"/>
            <a:ext cx="3502152" cy="2624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Ohjelman nimi ja tarkoitus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Miten asennetaan / käynnistetään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Tekijä ja vuosi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Kuvakaappaus tai esimerkki (bonus)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1480" y="5614416"/>
            <a:ext cx="11338560" cy="457200"/>
          </a:xfrm>
          <a:prstGeom prst="rect">
            <a:avLst/>
          </a:prstGeom>
          <a:solidFill>
            <a:srgbClr val="1A3A1A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8" name="Text 26"/>
          <p:cNvSpPr/>
          <p:nvPr/>
        </p:nvSpPr>
        <p:spPr>
          <a:xfrm>
            <a:off x="594360" y="5678424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Dokumentaation ei tarvitse olla pitkä – tärkeintä on että se on olemassa ja selkeä. 1–2 sivua riittää.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4320" y="6510528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Vaihe 4/7  •  Python-kurssi  •  Harjoitustyö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113659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Vaihe 5 – GitHub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11480" y="795528"/>
            <a:ext cx="11365992" cy="36576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" name="Text 3"/>
          <p:cNvSpPr/>
          <p:nvPr/>
        </p:nvSpPr>
        <p:spPr>
          <a:xfrm>
            <a:off x="411480" y="859536"/>
            <a:ext cx="11365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26.5  •  Ohjelma ladataan repositorioon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7223760" cy="402336"/>
          </a:xfrm>
          <a:prstGeom prst="rect">
            <a:avLst/>
          </a:prstGeom>
          <a:solidFill>
            <a:srgbClr val="0B7070"/>
          </a:solidFill>
          <a:ln w="12700">
            <a:solidFill>
              <a:srgbClr val="0B707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Tiedostot suoraan selaimessa – helpoin tapa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682496"/>
            <a:ext cx="7223760" cy="512064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9" name="Text 7"/>
          <p:cNvSpPr/>
          <p:nvPr/>
        </p:nvSpPr>
        <p:spPr>
          <a:xfrm>
            <a:off x="594360" y="1682496"/>
            <a:ext cx="6858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Luo tili osoitteessa github.com (jos ei ole vielä)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2249424"/>
            <a:ext cx="7223760" cy="512064"/>
          </a:xfrm>
          <a:prstGeom prst="rect">
            <a:avLst/>
          </a:prstGeom>
          <a:solidFill>
            <a:srgbClr val="141E3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1" name="Text 9"/>
          <p:cNvSpPr/>
          <p:nvPr/>
        </p:nvSpPr>
        <p:spPr>
          <a:xfrm>
            <a:off x="594360" y="2249424"/>
            <a:ext cx="6858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Luo uusi repositorio: "New repository" → anna nimi → "Create repository"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" y="2816352"/>
            <a:ext cx="7223760" cy="512064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3" name="Text 11"/>
          <p:cNvSpPr/>
          <p:nvPr/>
        </p:nvSpPr>
        <p:spPr>
          <a:xfrm>
            <a:off x="594360" y="2816352"/>
            <a:ext cx="6858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Klikkaa "Add file" → "Upload files"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" y="3383280"/>
            <a:ext cx="7223760" cy="512064"/>
          </a:xfrm>
          <a:prstGeom prst="rect">
            <a:avLst/>
          </a:prstGeom>
          <a:solidFill>
            <a:srgbClr val="141E3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5" name="Text 13"/>
          <p:cNvSpPr/>
          <p:nvPr/>
        </p:nvSpPr>
        <p:spPr>
          <a:xfrm>
            <a:off x="594360" y="3383280"/>
            <a:ext cx="6858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Raahaa Python-tiedostosi ja README.md selainikkunaan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" y="3950208"/>
            <a:ext cx="7223760" cy="512064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7" name="Text 15"/>
          <p:cNvSpPr/>
          <p:nvPr/>
        </p:nvSpPr>
        <p:spPr>
          <a:xfrm>
            <a:off x="594360" y="3950208"/>
            <a:ext cx="6858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Klikkaa "Commit changes" → valmis!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973568" y="1234440"/>
            <a:ext cx="3803904" cy="402336"/>
          </a:xfrm>
          <a:prstGeom prst="rect">
            <a:avLst/>
          </a:prstGeom>
          <a:solidFill>
            <a:srgbClr val="0B7070"/>
          </a:solidFill>
          <a:ln w="12700">
            <a:solidFill>
              <a:srgbClr val="0B707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9" name="Text 17"/>
          <p:cNvSpPr/>
          <p:nvPr/>
        </p:nvSpPr>
        <p:spPr>
          <a:xfrm>
            <a:off x="7973568" y="1234440"/>
            <a:ext cx="38039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komentoriviltä (vaihtoehto)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73568" y="1682496"/>
            <a:ext cx="3803904" cy="2834640"/>
          </a:xfrm>
          <a:prstGeom prst="rect">
            <a:avLst/>
          </a:prstGeom>
          <a:solidFill>
            <a:srgbClr val="0A162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1" name="Text 19"/>
          <p:cNvSpPr/>
          <p:nvPr/>
        </p:nvSpPr>
        <p:spPr>
          <a:xfrm>
            <a:off x="8156448" y="1783080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projekti-kansio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156448" y="2185416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156448" y="2587752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56448" y="2990088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"Valmis"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156448" y="3392424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[url]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156448" y="3794760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main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4645152"/>
            <a:ext cx="11365992" cy="402336"/>
          </a:xfrm>
          <a:prstGeom prst="rect">
            <a:avLst/>
          </a:prstGeom>
          <a:solidFill>
            <a:srgbClr val="0B7070"/>
          </a:solidFill>
          <a:ln w="12700">
            <a:solidFill>
              <a:srgbClr val="0B707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8" name="Text 26"/>
          <p:cNvSpPr/>
          <p:nvPr/>
        </p:nvSpPr>
        <p:spPr>
          <a:xfrm>
            <a:off x="411480" y="4645152"/>
            <a:ext cx="11365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Mitä reposta pitää löytyä?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11480" y="5074920"/>
            <a:ext cx="2167128" cy="822960"/>
          </a:xfrm>
          <a:prstGeom prst="rect">
            <a:avLst/>
          </a:prstGeom>
          <a:solidFill>
            <a:srgbClr val="1C2E48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0" name="Text 28"/>
          <p:cNvSpPr/>
          <p:nvPr/>
        </p:nvSpPr>
        <p:spPr>
          <a:xfrm>
            <a:off x="502920" y="5074920"/>
            <a:ext cx="19842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Python-tiedosto(t)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715768" y="5074920"/>
            <a:ext cx="2167128" cy="822960"/>
          </a:xfrm>
          <a:prstGeom prst="rect">
            <a:avLst/>
          </a:prstGeom>
          <a:solidFill>
            <a:srgbClr val="1C2E48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2" name="Text 30"/>
          <p:cNvSpPr/>
          <p:nvPr/>
        </p:nvSpPr>
        <p:spPr>
          <a:xfrm>
            <a:off x="2807208" y="5074920"/>
            <a:ext cx="19842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README.md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20056" y="5074920"/>
            <a:ext cx="2167128" cy="822960"/>
          </a:xfrm>
          <a:prstGeom prst="rect">
            <a:avLst/>
          </a:prstGeom>
          <a:solidFill>
            <a:srgbClr val="1C2E48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4" name="Text 32"/>
          <p:cNvSpPr/>
          <p:nvPr/>
        </p:nvSpPr>
        <p:spPr>
          <a:xfrm>
            <a:off x="5111496" y="5074920"/>
            <a:ext cx="19842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Testipöytäkirja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324344" y="5074920"/>
            <a:ext cx="2167128" cy="822960"/>
          </a:xfrm>
          <a:prstGeom prst="rect">
            <a:avLst/>
          </a:prstGeom>
          <a:solidFill>
            <a:srgbClr val="1C2E48"/>
          </a:solidFill>
          <a:ln w="12700">
            <a:solidFill>
              <a:srgbClr val="8090A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6" name="Text 34"/>
          <p:cNvSpPr/>
          <p:nvPr/>
        </p:nvSpPr>
        <p:spPr>
          <a:xfrm>
            <a:off x="7415784" y="5074920"/>
            <a:ext cx="19842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 Käyttöohje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628632" y="5074920"/>
            <a:ext cx="2167128" cy="822960"/>
          </a:xfrm>
          <a:prstGeom prst="rect">
            <a:avLst/>
          </a:prstGeom>
          <a:solidFill>
            <a:srgbClr val="1C2E48"/>
          </a:solidFill>
          <a:ln w="12700">
            <a:solidFill>
              <a:srgbClr val="8090A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8" name="Text 36"/>
          <p:cNvSpPr/>
          <p:nvPr/>
        </p:nvSpPr>
        <p:spPr>
          <a:xfrm>
            <a:off x="9720072" y="5074920"/>
            <a:ext cx="19842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 Esitysslaidit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11480" y="59618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= pakollinen    📎 = suositeltava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74320" y="6510528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Vaihe 5/7  •  Python-kurssi  •  Harjoitustyö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113659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Vaihe 6 – Esittely luokalle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11480" y="795528"/>
            <a:ext cx="11365992" cy="36576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" name="Text 3"/>
          <p:cNvSpPr/>
          <p:nvPr/>
        </p:nvSpPr>
        <p:spPr>
          <a:xfrm>
            <a:off x="411480" y="859536"/>
            <a:ext cx="11365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 27.5 iltapäivä &amp; To 28.5  •  7 min / opiskelija (5 + 2 kysymyksiä)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5394960" cy="402336"/>
          </a:xfrm>
          <a:prstGeom prst="rect">
            <a:avLst/>
          </a:prstGeom>
          <a:solidFill>
            <a:srgbClr val="0B7070"/>
          </a:solidFill>
          <a:ln w="12700">
            <a:solidFill>
              <a:srgbClr val="0B707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Esityksen rakenne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709928"/>
            <a:ext cx="475488" cy="475488"/>
          </a:xfrm>
          <a:prstGeom prst="ellipse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9" name="Text 7"/>
          <p:cNvSpPr/>
          <p:nvPr/>
        </p:nvSpPr>
        <p:spPr>
          <a:xfrm>
            <a:off x="502920" y="17099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88136" y="170992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Aihe  (30 sek)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88136" y="214884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Kerro mikä ohjelma on ja miksi valitsit tämän aiheen.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459736"/>
            <a:ext cx="475488" cy="475488"/>
          </a:xfrm>
          <a:prstGeom prst="ellipse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3" name="Text 11"/>
          <p:cNvSpPr/>
          <p:nvPr/>
        </p:nvSpPr>
        <p:spPr>
          <a:xfrm>
            <a:off x="502920" y="24597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88136" y="245973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(2–3 min)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8136" y="289864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Käynnistä ohjelma ja näytä miten se toimii. Käy läpi päätoiminnot.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209544"/>
            <a:ext cx="475488" cy="475488"/>
          </a:xfrm>
          <a:prstGeom prst="ellipse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7" name="Text 15"/>
          <p:cNvSpPr/>
          <p:nvPr/>
        </p:nvSpPr>
        <p:spPr>
          <a:xfrm>
            <a:off x="502920" y="320954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88136" y="320954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Koodi  (1 min)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88136" y="3648456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Näytä yksi kiinnostava tai haastava kohta koodissa.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959352"/>
            <a:ext cx="475488" cy="475488"/>
          </a:xfrm>
          <a:prstGeom prst="ellipse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1" name="Text 19"/>
          <p:cNvSpPr/>
          <p:nvPr/>
        </p:nvSpPr>
        <p:spPr>
          <a:xfrm>
            <a:off x="502920" y="39593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88136" y="395935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Mitä opin  (1 min)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88136" y="4398264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Kerro yksi asia joka oli vaikea, ja yksi asia jonka opit.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4709160"/>
            <a:ext cx="475488" cy="475488"/>
          </a:xfrm>
          <a:prstGeom prst="ellipse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5" name="Text 23"/>
          <p:cNvSpPr/>
          <p:nvPr/>
        </p:nvSpPr>
        <p:spPr>
          <a:xfrm>
            <a:off x="502920" y="47091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088136" y="470916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Kysymykset  (2 min)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88136" y="514807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Muut voivat kysyä. Vastaa parhaasi mukaan – "en tiedä" käy.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72200" y="1234440"/>
            <a:ext cx="5577840" cy="402336"/>
          </a:xfrm>
          <a:prstGeom prst="rect">
            <a:avLst/>
          </a:prstGeom>
          <a:solidFill>
            <a:srgbClr val="0B7070"/>
          </a:solidFill>
          <a:ln w="12700">
            <a:solidFill>
              <a:srgbClr val="0B707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9" name="Text 27"/>
          <p:cNvSpPr/>
          <p:nvPr/>
        </p:nvSpPr>
        <p:spPr>
          <a:xfrm>
            <a:off x="6172200" y="1234440"/>
            <a:ext cx="5577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Esitysslaidit (3–5 diaa)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72200" y="1709928"/>
            <a:ext cx="5577840" cy="685800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1" name="Text 29"/>
          <p:cNvSpPr/>
          <p:nvPr/>
        </p:nvSpPr>
        <p:spPr>
          <a:xfrm>
            <a:off x="6309360" y="1709928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589520" y="1709928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Otsikko: ohjelman nimi ja tekijä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72200" y="2459736"/>
            <a:ext cx="5577840" cy="685800"/>
          </a:xfrm>
          <a:prstGeom prst="rect">
            <a:avLst/>
          </a:prstGeom>
          <a:solidFill>
            <a:srgbClr val="141E3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4" name="Text 32"/>
          <p:cNvSpPr/>
          <p:nvPr/>
        </p:nvSpPr>
        <p:spPr>
          <a:xfrm>
            <a:off x="6309360" y="2459736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589520" y="2459736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Mitä ohjelma tekee – päätoiminnot listana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72200" y="3209544"/>
            <a:ext cx="5577840" cy="685800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7" name="Text 35"/>
          <p:cNvSpPr/>
          <p:nvPr/>
        </p:nvSpPr>
        <p:spPr>
          <a:xfrm>
            <a:off x="6309360" y="3209544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589520" y="3209544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Yksi kiinnostava kohta koodissa tai tekninen ratkaisu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72200" y="3959352"/>
            <a:ext cx="5577840" cy="685800"/>
          </a:xfrm>
          <a:prstGeom prst="rect">
            <a:avLst/>
          </a:prstGeom>
          <a:solidFill>
            <a:srgbClr val="141E3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40" name="Text 38"/>
          <p:cNvSpPr/>
          <p:nvPr/>
        </p:nvSpPr>
        <p:spPr>
          <a:xfrm>
            <a:off x="6309360" y="3959352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589520" y="3959352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Mitä opin – vaikeudet ja onnistumiset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172200" y="4709160"/>
            <a:ext cx="5577840" cy="685800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43" name="Text 41"/>
          <p:cNvSpPr/>
          <p:nvPr/>
        </p:nvSpPr>
        <p:spPr>
          <a:xfrm>
            <a:off x="6309360" y="47091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589520" y="470916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(vapaaehtoinen) Mitä lisäisin jos olisi enemmän aikaa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11480" y="5559552"/>
            <a:ext cx="11338560" cy="475488"/>
          </a:xfrm>
          <a:prstGeom prst="rect">
            <a:avLst/>
          </a:prstGeom>
          <a:solidFill>
            <a:srgbClr val="2A1E08"/>
          </a:solidFill>
          <a:ln w="12700">
            <a:solidFill>
              <a:srgbClr val="F0A03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46" name="Text 44"/>
          <p:cNvSpPr/>
          <p:nvPr/>
        </p:nvSpPr>
        <p:spPr>
          <a:xfrm>
            <a:off x="594360" y="562356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Harjoittele demo etukäteen – erityisesti varmista että ohjelma toimii esityskoneella ennen vuoroasi.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274320" y="6510528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Vaihe 6/7  •  Python-kurssi  •  Harjoitustyö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113659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Arviointi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11480" y="795528"/>
            <a:ext cx="11365992" cy="36576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" name="Text 3"/>
          <p:cNvSpPr/>
          <p:nvPr/>
        </p:nvSpPr>
        <p:spPr>
          <a:xfrm>
            <a:off x="411480" y="859536"/>
            <a:ext cx="11365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Mistä pisteet tulevat?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9491472" cy="402336"/>
          </a:xfrm>
          <a:prstGeom prst="rect">
            <a:avLst/>
          </a:prstGeom>
          <a:solidFill>
            <a:srgbClr val="0B7070"/>
          </a:solidFill>
          <a:ln w="12700">
            <a:solidFill>
              <a:srgbClr val="0B707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9491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Arviointikohde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902952" y="1234440"/>
            <a:ext cx="685800" cy="402336"/>
          </a:xfrm>
          <a:prstGeom prst="rect">
            <a:avLst/>
          </a:prstGeom>
          <a:solidFill>
            <a:srgbClr val="0B7070"/>
          </a:solidFill>
          <a:ln w="12700">
            <a:solidFill>
              <a:srgbClr val="0B707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9" name="Text 7"/>
          <p:cNvSpPr/>
          <p:nvPr/>
        </p:nvSpPr>
        <p:spPr>
          <a:xfrm>
            <a:off x="9902952" y="1234440"/>
            <a:ext cx="685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588752" y="1234440"/>
            <a:ext cx="1188720" cy="402336"/>
          </a:xfrm>
          <a:prstGeom prst="rect">
            <a:avLst/>
          </a:prstGeom>
          <a:solidFill>
            <a:srgbClr val="0B7070"/>
          </a:solidFill>
          <a:ln w="12700">
            <a:solidFill>
              <a:srgbClr val="0B707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1" name="Text 9"/>
          <p:cNvSpPr/>
          <p:nvPr/>
        </p:nvSpPr>
        <p:spPr>
          <a:xfrm>
            <a:off x="10588752" y="1234440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1700784"/>
            <a:ext cx="9491472" cy="521208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3" name="Shape 11"/>
          <p:cNvSpPr/>
          <p:nvPr/>
        </p:nvSpPr>
        <p:spPr>
          <a:xfrm>
            <a:off x="411480" y="1700784"/>
            <a:ext cx="54864" cy="52120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4" name="Text 12"/>
          <p:cNvSpPr/>
          <p:nvPr/>
        </p:nvSpPr>
        <p:spPr>
          <a:xfrm>
            <a:off x="594360" y="1700784"/>
            <a:ext cx="921715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Ohjelma toimii ja täyttää minimivaatimukset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902952" y="1700784"/>
            <a:ext cx="685800" cy="521208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6" name="Text 14"/>
          <p:cNvSpPr/>
          <p:nvPr/>
        </p:nvSpPr>
        <p:spPr>
          <a:xfrm>
            <a:off x="9902952" y="1700784"/>
            <a:ext cx="685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588752" y="1700784"/>
            <a:ext cx="1188720" cy="521208"/>
          </a:xfrm>
          <a:prstGeom prst="rect">
            <a:avLst/>
          </a:prstGeom>
          <a:solidFill>
            <a:srgbClr val="0A1628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8" name="Shape 16"/>
          <p:cNvSpPr/>
          <p:nvPr/>
        </p:nvSpPr>
        <p:spPr>
          <a:xfrm>
            <a:off x="411480" y="2276856"/>
            <a:ext cx="9491472" cy="521208"/>
          </a:xfrm>
          <a:prstGeom prst="rect">
            <a:avLst/>
          </a:prstGeom>
          <a:solidFill>
            <a:srgbClr val="141E3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9" name="Shape 17"/>
          <p:cNvSpPr/>
          <p:nvPr/>
        </p:nvSpPr>
        <p:spPr>
          <a:xfrm>
            <a:off x="411480" y="2276856"/>
            <a:ext cx="54864" cy="52120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0" name="Text 18"/>
          <p:cNvSpPr/>
          <p:nvPr/>
        </p:nvSpPr>
        <p:spPr>
          <a:xfrm>
            <a:off x="594360" y="2276856"/>
            <a:ext cx="921715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Koodi on luettavaa (muuttujanimet, funktiot, kommentit)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902952" y="2276856"/>
            <a:ext cx="685800" cy="521208"/>
          </a:xfrm>
          <a:prstGeom prst="rect">
            <a:avLst/>
          </a:prstGeom>
          <a:solidFill>
            <a:srgbClr val="141E3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2" name="Text 20"/>
          <p:cNvSpPr/>
          <p:nvPr/>
        </p:nvSpPr>
        <p:spPr>
          <a:xfrm>
            <a:off x="9902952" y="2276856"/>
            <a:ext cx="685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0588752" y="2276856"/>
            <a:ext cx="1188720" cy="521208"/>
          </a:xfrm>
          <a:prstGeom prst="rect">
            <a:avLst/>
          </a:prstGeom>
          <a:solidFill>
            <a:srgbClr val="0A1628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4" name="Shape 22"/>
          <p:cNvSpPr/>
          <p:nvPr/>
        </p:nvSpPr>
        <p:spPr>
          <a:xfrm>
            <a:off x="411480" y="2852928"/>
            <a:ext cx="9491472" cy="521208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5" name="Shape 23"/>
          <p:cNvSpPr/>
          <p:nvPr/>
        </p:nvSpPr>
        <p:spPr>
          <a:xfrm>
            <a:off x="411480" y="2852928"/>
            <a:ext cx="54864" cy="52120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6" name="Text 24"/>
          <p:cNvSpPr/>
          <p:nvPr/>
        </p:nvSpPr>
        <p:spPr>
          <a:xfrm>
            <a:off x="594360" y="2852928"/>
            <a:ext cx="921715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Tiedostotallennus toimii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902952" y="2852928"/>
            <a:ext cx="685800" cy="521208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8" name="Text 26"/>
          <p:cNvSpPr/>
          <p:nvPr/>
        </p:nvSpPr>
        <p:spPr>
          <a:xfrm>
            <a:off x="9902952" y="2852928"/>
            <a:ext cx="685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0588752" y="2852928"/>
            <a:ext cx="1188720" cy="521208"/>
          </a:xfrm>
          <a:prstGeom prst="rect">
            <a:avLst/>
          </a:prstGeom>
          <a:solidFill>
            <a:srgbClr val="0A1628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0" name="Shape 28"/>
          <p:cNvSpPr/>
          <p:nvPr/>
        </p:nvSpPr>
        <p:spPr>
          <a:xfrm>
            <a:off x="411480" y="3429000"/>
            <a:ext cx="9491472" cy="521208"/>
          </a:xfrm>
          <a:prstGeom prst="rect">
            <a:avLst/>
          </a:prstGeom>
          <a:solidFill>
            <a:srgbClr val="141E3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1" name="Shape 29"/>
          <p:cNvSpPr/>
          <p:nvPr/>
        </p:nvSpPr>
        <p:spPr>
          <a:xfrm>
            <a:off x="411480" y="3429000"/>
            <a:ext cx="54864" cy="521208"/>
          </a:xfrm>
          <a:prstGeom prst="rect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2" name="Text 30"/>
          <p:cNvSpPr/>
          <p:nvPr/>
        </p:nvSpPr>
        <p:spPr>
          <a:xfrm>
            <a:off x="594360" y="3429000"/>
            <a:ext cx="921715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Testipöytäkirja on tehty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902952" y="3429000"/>
            <a:ext cx="685800" cy="521208"/>
          </a:xfrm>
          <a:prstGeom prst="rect">
            <a:avLst/>
          </a:prstGeom>
          <a:solidFill>
            <a:srgbClr val="141E3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4" name="Text 32"/>
          <p:cNvSpPr/>
          <p:nvPr/>
        </p:nvSpPr>
        <p:spPr>
          <a:xfrm>
            <a:off x="9902952" y="3429000"/>
            <a:ext cx="685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0588752" y="3429000"/>
            <a:ext cx="1188720" cy="521208"/>
          </a:xfrm>
          <a:prstGeom prst="rect">
            <a:avLst/>
          </a:prstGeom>
          <a:solidFill>
            <a:srgbClr val="0A1628"/>
          </a:solidFill>
          <a:ln w="12700">
            <a:solidFill>
              <a:srgbClr val="F0A03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6" name="Shape 34"/>
          <p:cNvSpPr/>
          <p:nvPr/>
        </p:nvSpPr>
        <p:spPr>
          <a:xfrm>
            <a:off x="411480" y="4005072"/>
            <a:ext cx="9491472" cy="521208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7" name="Shape 35"/>
          <p:cNvSpPr/>
          <p:nvPr/>
        </p:nvSpPr>
        <p:spPr>
          <a:xfrm>
            <a:off x="411480" y="4005072"/>
            <a:ext cx="54864" cy="521208"/>
          </a:xfrm>
          <a:prstGeom prst="rect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8" name="Text 36"/>
          <p:cNvSpPr/>
          <p:nvPr/>
        </p:nvSpPr>
        <p:spPr>
          <a:xfrm>
            <a:off x="594360" y="4005072"/>
            <a:ext cx="921715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Dokumentointi: käyttöohje + README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902952" y="4005072"/>
            <a:ext cx="685800" cy="521208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40" name="Text 38"/>
          <p:cNvSpPr/>
          <p:nvPr/>
        </p:nvSpPr>
        <p:spPr>
          <a:xfrm>
            <a:off x="9902952" y="4005072"/>
            <a:ext cx="685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10588752" y="4005072"/>
            <a:ext cx="1188720" cy="521208"/>
          </a:xfrm>
          <a:prstGeom prst="rect">
            <a:avLst/>
          </a:prstGeom>
          <a:solidFill>
            <a:srgbClr val="0A1628"/>
          </a:solidFill>
          <a:ln w="12700">
            <a:solidFill>
              <a:srgbClr val="F0A03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42" name="Shape 40"/>
          <p:cNvSpPr/>
          <p:nvPr/>
        </p:nvSpPr>
        <p:spPr>
          <a:xfrm>
            <a:off x="411480" y="4581144"/>
            <a:ext cx="9491472" cy="521208"/>
          </a:xfrm>
          <a:prstGeom prst="rect">
            <a:avLst/>
          </a:prstGeom>
          <a:solidFill>
            <a:srgbClr val="141E3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43" name="Shape 41"/>
          <p:cNvSpPr/>
          <p:nvPr/>
        </p:nvSpPr>
        <p:spPr>
          <a:xfrm>
            <a:off x="411480" y="4581144"/>
            <a:ext cx="54864" cy="521208"/>
          </a:xfrm>
          <a:prstGeom prst="rect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44" name="Text 42"/>
          <p:cNvSpPr/>
          <p:nvPr/>
        </p:nvSpPr>
        <p:spPr>
          <a:xfrm>
            <a:off x="594360" y="4581144"/>
            <a:ext cx="921715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GitHub-repo sisältää vaaditut tiedostot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9902952" y="4581144"/>
            <a:ext cx="685800" cy="521208"/>
          </a:xfrm>
          <a:prstGeom prst="rect">
            <a:avLst/>
          </a:prstGeom>
          <a:solidFill>
            <a:srgbClr val="141E3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46" name="Text 44"/>
          <p:cNvSpPr/>
          <p:nvPr/>
        </p:nvSpPr>
        <p:spPr>
          <a:xfrm>
            <a:off x="9902952" y="4581144"/>
            <a:ext cx="685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10588752" y="4581144"/>
            <a:ext cx="1188720" cy="521208"/>
          </a:xfrm>
          <a:prstGeom prst="rect">
            <a:avLst/>
          </a:prstGeom>
          <a:solidFill>
            <a:srgbClr val="0A1628"/>
          </a:solidFill>
          <a:ln w="12700">
            <a:solidFill>
              <a:srgbClr val="F0A03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48" name="Shape 46"/>
          <p:cNvSpPr/>
          <p:nvPr/>
        </p:nvSpPr>
        <p:spPr>
          <a:xfrm>
            <a:off x="411480" y="5157216"/>
            <a:ext cx="9491472" cy="521208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49" name="Shape 47"/>
          <p:cNvSpPr/>
          <p:nvPr/>
        </p:nvSpPr>
        <p:spPr>
          <a:xfrm>
            <a:off x="411480" y="5157216"/>
            <a:ext cx="54864" cy="521208"/>
          </a:xfrm>
          <a:prstGeom prst="rect">
            <a:avLst/>
          </a:prstGeom>
          <a:solidFill>
            <a:srgbClr val="40C080"/>
          </a:solidFill>
          <a:ln w="12700">
            <a:solidFill>
              <a:srgbClr val="40C08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0" name="Text 48"/>
          <p:cNvSpPr/>
          <p:nvPr/>
        </p:nvSpPr>
        <p:spPr>
          <a:xfrm>
            <a:off x="594360" y="5157216"/>
            <a:ext cx="921715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Esitys ja demo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9902952" y="5157216"/>
            <a:ext cx="685800" cy="521208"/>
          </a:xfrm>
          <a:prstGeom prst="rect">
            <a:avLst/>
          </a:prstGeom>
          <a:solidFill>
            <a:srgbClr val="1C2E4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2" name="Text 50"/>
          <p:cNvSpPr/>
          <p:nvPr/>
        </p:nvSpPr>
        <p:spPr>
          <a:xfrm>
            <a:off x="9902952" y="5157216"/>
            <a:ext cx="685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0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10588752" y="5157216"/>
            <a:ext cx="1188720" cy="521208"/>
          </a:xfrm>
          <a:prstGeom prst="rect">
            <a:avLst/>
          </a:prstGeom>
          <a:solidFill>
            <a:srgbClr val="0A1628"/>
          </a:solidFill>
          <a:ln w="12700">
            <a:solidFill>
              <a:srgbClr val="40C08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4" name="Shape 52"/>
          <p:cNvSpPr/>
          <p:nvPr/>
        </p:nvSpPr>
        <p:spPr>
          <a:xfrm>
            <a:off x="411480" y="5806440"/>
            <a:ext cx="9491472" cy="530352"/>
          </a:xfrm>
          <a:prstGeom prst="rect">
            <a:avLst/>
          </a:prstGeom>
          <a:solidFill>
            <a:srgbClr val="0B7070"/>
          </a:solidFill>
          <a:ln w="12700">
            <a:solidFill>
              <a:srgbClr val="0B707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5" name="Text 53"/>
          <p:cNvSpPr/>
          <p:nvPr/>
        </p:nvSpPr>
        <p:spPr>
          <a:xfrm>
            <a:off x="594360" y="5806440"/>
            <a:ext cx="92171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YHTEENSÄ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9902952" y="5806440"/>
            <a:ext cx="685800" cy="530352"/>
          </a:xfrm>
          <a:prstGeom prst="rect">
            <a:avLst/>
          </a:prstGeom>
          <a:solidFill>
            <a:srgbClr val="0B7070"/>
          </a:solidFill>
          <a:ln w="12700">
            <a:solidFill>
              <a:srgbClr val="0B707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7" name="Text 55"/>
          <p:cNvSpPr/>
          <p:nvPr/>
        </p:nvSpPr>
        <p:spPr>
          <a:xfrm>
            <a:off x="9902952" y="5806440"/>
            <a:ext cx="685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0588752" y="5806440"/>
            <a:ext cx="1188720" cy="530352"/>
          </a:xfrm>
          <a:prstGeom prst="rect">
            <a:avLst/>
          </a:prstGeom>
          <a:solidFill>
            <a:srgbClr val="0A1628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9" name="Text 57"/>
          <p:cNvSpPr/>
          <p:nvPr/>
        </p:nvSpPr>
        <p:spPr>
          <a:xfrm>
            <a:off x="10588752" y="5806440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 / 13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411480" y="5943600"/>
            <a:ext cx="11338560" cy="530352"/>
          </a:xfrm>
          <a:prstGeom prst="rect">
            <a:avLst/>
          </a:prstGeom>
          <a:solidFill>
            <a:srgbClr val="1A3A1A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61" name="Text 59"/>
          <p:cNvSpPr/>
          <p:nvPr/>
        </p:nvSpPr>
        <p:spPr>
          <a:xfrm>
            <a:off x="594360" y="6007608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Harjoitustyö on näyttö siitä mitä olet oppinut. Tee se itse – omat ratkaisut ja oma koodi.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274320" y="6510528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Arviointi  •  Python-kurssi  •  Harjoitustyö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113659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Muista nämä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11480" y="795528"/>
            <a:ext cx="11365992" cy="36576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" name="Text 3"/>
          <p:cNvSpPr/>
          <p:nvPr/>
        </p:nvSpPr>
        <p:spPr>
          <a:xfrm>
            <a:off x="411480" y="859536"/>
            <a:ext cx="11365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Tiivis koonti tärkeimmistä asioista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3566160" cy="2240280"/>
          </a:xfrm>
          <a:prstGeom prst="rect">
            <a:avLst/>
          </a:prstGeom>
          <a:solidFill>
            <a:srgbClr val="1C2E48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7" name="Text 5"/>
          <p:cNvSpPr/>
          <p:nvPr/>
        </p:nvSpPr>
        <p:spPr>
          <a:xfrm>
            <a:off x="411480" y="139903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76072" y="1920240"/>
            <a:ext cx="32369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Suunnitelma ensin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6072" y="2304288"/>
            <a:ext cx="32369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Ennen kuin kirjoitat riviäkään koodia, suunnitelma pitää olla hyväksytty.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5112" y="1234440"/>
            <a:ext cx="3566160" cy="2240280"/>
          </a:xfrm>
          <a:prstGeom prst="rect">
            <a:avLst/>
          </a:prstGeom>
          <a:solidFill>
            <a:srgbClr val="1C2E48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1" name="Text 9"/>
          <p:cNvSpPr/>
          <p:nvPr/>
        </p:nvSpPr>
        <p:spPr>
          <a:xfrm>
            <a:off x="4325112" y="139903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489704" y="1920240"/>
            <a:ext cx="32369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Tallenna usein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9704" y="2304288"/>
            <a:ext cx="32369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Commitoi GitHubiin vähintään kerran päivässä – varmuuskopio on pakollinen.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38744" y="1234440"/>
            <a:ext cx="3566160" cy="2240280"/>
          </a:xfrm>
          <a:prstGeom prst="rect">
            <a:avLst/>
          </a:prstGeom>
          <a:solidFill>
            <a:srgbClr val="1C2E48"/>
          </a:solidFill>
          <a:ln w="12700">
            <a:solidFill>
              <a:srgbClr val="F0A03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5" name="Text 13"/>
          <p:cNvSpPr/>
          <p:nvPr/>
        </p:nvSpPr>
        <p:spPr>
          <a:xfrm>
            <a:off x="8238744" y="139903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🙋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403336" y="1920240"/>
            <a:ext cx="32369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Kysy ajoissa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03336" y="2304288"/>
            <a:ext cx="32369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Älä jumita yksin tuntia saman ongelman kanssa. Standup on varten tätä.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3657600"/>
            <a:ext cx="3566160" cy="2240280"/>
          </a:xfrm>
          <a:prstGeom prst="rect">
            <a:avLst/>
          </a:prstGeom>
          <a:solidFill>
            <a:srgbClr val="1C2E48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9" name="Text 17"/>
          <p:cNvSpPr/>
          <p:nvPr/>
        </p:nvSpPr>
        <p:spPr>
          <a:xfrm>
            <a:off x="411480" y="382219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🚫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76072" y="4343400"/>
            <a:ext cx="32369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tekoälyä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76072" y="4727448"/>
            <a:ext cx="32369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Omat ratkaisut, oma koodi. Jos jokin epäselvää, katso materiaaleja tai kysy.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25112" y="3657600"/>
            <a:ext cx="3566160" cy="2240280"/>
          </a:xfrm>
          <a:prstGeom prst="rect">
            <a:avLst/>
          </a:prstGeom>
          <a:solidFill>
            <a:srgbClr val="1C2E48"/>
          </a:solidFill>
          <a:ln w="12700">
            <a:solidFill>
              <a:srgbClr val="F0A03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3" name="Text 21"/>
          <p:cNvSpPr/>
          <p:nvPr/>
        </p:nvSpPr>
        <p:spPr>
          <a:xfrm>
            <a:off x="4325112" y="382219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🧪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489704" y="4343400"/>
            <a:ext cx="32369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Testaa oikeasti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489704" y="4727448"/>
            <a:ext cx="32369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Kokeile myös väärät syötteet – ei pelkästään se mikä toimii.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38744" y="3657600"/>
            <a:ext cx="3566160" cy="2240280"/>
          </a:xfrm>
          <a:prstGeom prst="rect">
            <a:avLst/>
          </a:prstGeom>
          <a:solidFill>
            <a:srgbClr val="1C2E48"/>
          </a:solidFill>
          <a:ln w="12700">
            <a:solidFill>
              <a:srgbClr val="40C080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7" name="Text 25"/>
          <p:cNvSpPr/>
          <p:nvPr/>
        </p:nvSpPr>
        <p:spPr>
          <a:xfrm>
            <a:off x="8238744" y="382219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🎤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8403336" y="4343400"/>
            <a:ext cx="32369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0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Harjoittele demo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03336" y="4727448"/>
            <a:ext cx="32369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Varmista että ohjelma toimii esityskoneella ennen vuoroasi.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74320" y="6510528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Python-kurssi  •  Harjoitustyö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1406</Words>
  <Application>Microsoft Office PowerPoint</Application>
  <PresentationFormat>Laajakuva</PresentationFormat>
  <Paragraphs>306</Paragraphs>
  <Slides>11</Slides>
  <Notes>11</Notes>
  <HiddenSlides>0</HiddenSlides>
  <MMClips>0</MMClips>
  <ScaleCrop>false</ScaleCrop>
  <HeadingPairs>
    <vt:vector size="6" baseType="variant">
      <vt:variant>
        <vt:lpstr>Käytetyt fontit</vt:lpstr>
      </vt:variant>
      <vt:variant>
        <vt:i4>3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Heikki Loukojärvi</cp:lastModifiedBy>
  <cp:revision>2</cp:revision>
  <dcterms:created xsi:type="dcterms:W3CDTF">2026-05-14T18:38:35Z</dcterms:created>
  <dcterms:modified xsi:type="dcterms:W3CDTF">2026-05-14T19:15:20Z</dcterms:modified>
</cp:coreProperties>
</file>